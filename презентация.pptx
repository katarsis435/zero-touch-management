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FAA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76" autoAdjust="0"/>
    <p:restoredTop sz="81115" autoAdjust="0"/>
  </p:normalViewPr>
  <p:slideViewPr>
    <p:cSldViewPr snapToGrid="0">
      <p:cViewPr>
        <p:scale>
          <a:sx n="71" d="100"/>
          <a:sy n="71" d="100"/>
        </p:scale>
        <p:origin x="12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74BAC-615E-4802-941C-9B6DD6349334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140FB-C759-45CD-A93E-9A266EEC77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49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Здравствуйте. Тема моего доклада — применение больших языковых моделей для автоматической генерации конфигураций сетевых устройств. Работа выполнена на локальной модели phi3:mini, с замерами времени, памяти,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CPU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 токенов.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35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Сети 5G и 6G — это очень сложные системы. Там сотни параметров, и если всё настраивать руками, это долго, дорого, а еще люди постоянно ошибаются.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Поэтому придумали концепцию Zero-Touch Management. Смысл простой: человек пишет, что он хочет, обычными словами, а система сама превращает это в команды для оборудования.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 вот тут интересно использовать большие языковые модели. Они понимают человеческий язык, работают локально, не требуют облака. Вроде удобно.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Но есть проблема. LLM часто выдумывают команды, которых не существует. Выглядит правдоподобно, но это неправда. Поэтому нужна проверка.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 главное — таких экспериментов с локальными моделями почти никто не делал. Особенно с замерами скорости и ресурсов. Вот это и есть актуальность.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824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Цель одна — проверить, может ли локальная LLM нормально генерировать конфиги для сетевого оборудования. Не в теории, а на практике, на обычном ноутбуке.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Для этого нужно решить четыре задачи. Первая — посмотреть, что уже есть по теме. Вторая — разобрать архитектуру LLM-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NetCFG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Третья — собрать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многоагентную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систему на модели phi3:mini (фи-три-мини). Четвёртая — замерить производительность и сделать выводы.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Схема простая: русский текст → LLM → команды CLI. Всё.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 внизу для сравнения: без LLM инженер сам пишет команды. С LLM оператор пишет «настрой OSPF с аутентификацией», а модель сама выдаёт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router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ospf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1, 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network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area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0.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77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Объект — это сам процесс автоматической настройки сетевых устройств в Zero-Touch архитектурах для 5G и 6G.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Предмет — конкретно методы генерации конфигов с помощью LLM.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Методология — четыре штуки. Обзор литературы. Сравнение архитектур. Эксперимент. И качественный анализ результатов.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Схема справа — это замкнутый контур. Мониторинг, анализ, планирование, исполнение, проверка. И снова по кругу. Это стандартная логика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closed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loop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286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Я развернула локальный сервер Ollama с моделью phi3:mini. Для каждого агента написала системный </a:t>
            </a:r>
            <a:r>
              <a:rPr lang="ru-RU" b="0" i="1" dirty="0" err="1">
                <a:solidFill>
                  <a:srgbClr val="F9FAFB"/>
                </a:solidFill>
                <a:effectLst/>
                <a:latin typeface="quote-cjk-patch"/>
              </a:rPr>
              <a:t>промпт</a:t>
            </a: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, определяющий его роль. Затем запустила Python-скрипт, который последовательно вызывал трёх агентов для каждого из трёх тестовых </a:t>
            </a:r>
            <a:r>
              <a:rPr lang="ru-RU" b="0" i="1" dirty="0" err="1">
                <a:solidFill>
                  <a:srgbClr val="F9FAFB"/>
                </a:solidFill>
                <a:effectLst/>
                <a:latin typeface="quote-cjk-patch"/>
              </a:rPr>
              <a:t>интентов</a:t>
            </a: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. Каждый интент прогонялся три раза, всего получилось 27 запусков. В процессе замерялись время, память, загрузка CPU и количество токенов.</a:t>
            </a:r>
            <a:b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(я провела </a:t>
            </a:r>
            <a:r>
              <a:rPr lang="ru-RU" b="1" i="1" dirty="0">
                <a:solidFill>
                  <a:srgbClr val="F9FAFB"/>
                </a:solidFill>
                <a:effectLst/>
                <a:latin typeface="quote-cjk-patch"/>
              </a:rPr>
              <a:t>9 экспериментов</a:t>
            </a: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 (3 интента × 3 прогона). В каждом эксперименте последовательно работали 3 агента. Итого получено </a:t>
            </a:r>
            <a:r>
              <a:rPr lang="ru-RU" b="1" i="1" dirty="0">
                <a:solidFill>
                  <a:srgbClr val="F9FAFB"/>
                </a:solidFill>
                <a:effectLst/>
                <a:latin typeface="quote-cjk-patch"/>
              </a:rPr>
              <a:t>27 записей</a:t>
            </a: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 с результатами)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522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Показываю, как модель выдумывает.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Первый пример. Agent2 пишет команду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mpls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traffic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engagement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Такой команды в Cisco IOS не существует вообще. Модель её просто придумала.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Второй пример. Пишет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router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eap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и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username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admin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secret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Тоже выдумка. Нет такого в Cisco.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Третий пример. Начинает перечислять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no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ip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http-push-method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no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ip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http-push-failure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и так далее. Это бесконечный список фейковых команд. Модель не может остановиться, пока не упрётся в лимит 500 токенов.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Четвёртый пример. Agent3, который должен проверять, сам зацикливается. Пишет одно и то же: «установка правильной шины трафика», «удаление неиспользуемых команд», и повторяет это снова и снова. Тоже упирается в 500 токенов.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Вывод простой: модель маленькая, примеров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промпте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нет, поэтому она фантазирует. Нужна внешняя проверка.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87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Смотрим на график. Переводчику нужно 13 секунд, писателю — 53, проверяющему — почти 68. Чем длиннее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промпт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тем дольше. По CPU: у переводчика около 38 процентов, у остальных почти ноль — но это не потому, что они лёгкие, а потому что замер кривой. По памяти везде единицы мегабайт, то есть модель нетребовательная. Отрицательные значения — это шум, их надо переделать нормальным способом.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01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Смотрим на таблицу. По токенам складывается такая картина: чем длиннее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промпт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, тем больше времени (как и в прошло слайде). Переводчик — 335 токенов. Писатель — 783. Проверяющий — 1189.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Выводы. 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Первое: схема работает, все 27 запусков прошли без таймаутов. Успешность 100%.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Второе: время напрямую зависит от длины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промпта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Короткий — быстро, длинный — медленно.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Третье, и самое важное: конкретная языковая модель (от Microsoft) не годится для генерации конфигов. Она выдумывает команды. Причина — модель маленькая, около 3.8 миллиардов параметров, и в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промпте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нет примеров.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Четвёртое: верификатор не спасает. Agent3 сам галлюцинирует. Нужен внешний инструмент, например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Batfish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Пятое: для реального применения нужно больше. Модель покрупнее, типа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LLaMA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3 или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Mistral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. Дообучение на реальных конфигах. И интеграция с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Batfish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для автопроверки.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Итог: </a:t>
            </a:r>
            <a:r>
              <a:rPr lang="ru-RU" sz="1200" b="1" dirty="0" err="1"/>
              <a:t>Многоагентная</a:t>
            </a:r>
            <a:r>
              <a:rPr lang="ru-RU" sz="1200" b="1" dirty="0"/>
              <a:t> LLM-схема пригодна только как вспомогательный инструмент для черновой генерации. К промышленному применению не готова.</a:t>
            </a:r>
          </a:p>
          <a:p>
            <a:pPr algn="l"/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140FB-C759-45CD-A93E-9A266EEC776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527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180C2-B836-4932-ACC8-C29F86B32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FA674C-1F5D-4DC3-88B8-BF52652B7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5A9F6-151F-427F-929E-4A512D1A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17A6EE-F0CB-4636-832E-4EE91294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0E0233-7641-4F80-BF2C-806E9D58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27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A30F8-74CD-4BE1-BC68-A3E48B37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B5D88-631D-4FB6-ACC5-1AB3E0C23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90BCA8-6D0E-4FA9-BA5E-456DFAB4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B7F073-7C52-4AD7-91C0-1027A0F6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F66C2-DC02-4258-A757-C512255C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14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D0322-1D1D-4E7A-BB13-89398717F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4D6ED3-D704-4C81-9309-54C72673C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36694D-0D88-4234-BBFB-4409FAE1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B78166-DF02-4BB4-A49F-17DCC87C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2B42FD-A120-4E29-BF45-A2259447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92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83AC8-8E99-42FC-BE74-10795E96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859758-E215-4149-A0A4-4A11C7DE9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005CAF-15E3-4DF1-894C-9832A82A0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002567-8D52-4934-98FA-BE5E634C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CCB306-DC92-48A5-8D10-08D89DE3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6C2540-6E68-449A-9A56-521B39FB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05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1EC4E-BB44-4C1D-ABA1-D53F9B4D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453DC9-FBC5-4C4D-A822-0F2ECC436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EE88B0-DE22-4CAF-9A8A-072FB3438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4C9612-7BDD-4EF0-9624-49FA96856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56138A-DCF1-4E0B-BE19-ACC12B085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088C61-EBCA-4DBE-B741-C293778F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09269E-B3DC-4DF2-AC50-A10D0325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A17FC0-715E-41DC-8C7C-5A116850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74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285E0-ADD1-4D01-9972-598EF5E8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478E1D-CC8C-4041-B3F9-748E2F4F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28E31B-FCDC-44E0-BD1D-CDA7E83C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C60791-BD83-412C-AB8C-692B3702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478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D0D0B1-B979-4135-A1EE-EA6171A6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FEB0636-CDBF-473C-9AAD-3FD8F983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A1E3E-4F1F-49CB-8BCD-2F2FA361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34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F6FE1-C63E-4FBD-93C9-D76FFD47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104B80-D6DE-40BC-948F-F424D8EE3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76A9D0-B4F3-417D-8691-045F5DFBF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BAD5E9-7600-4A05-A173-D5DE1B8D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89A790-C503-421C-AA84-9461AFCC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DA3AA8-9570-45BA-956D-CC80F355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88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4843A-8CF8-4C13-9AFC-31B5957E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8451F6-C0FE-4B1A-8357-6A555D90C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684940-D02C-4C12-B040-29E3963C5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AD937D-C354-48E5-A53A-46304A66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0333CF-A7C2-4C50-A6B4-C8A0A178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EAC2D2-120B-4994-BCE5-BC234A17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61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9771F-86E3-4389-9B8C-4D65383A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9EEC95-E434-42A2-A8AB-87A7809A3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0A14CB-BDBB-437F-98EF-03593ED52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44A5B0-A8CB-48B3-863A-8EC5300E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22E1B1-0857-4D2B-8039-849973C6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777AEF-1E39-4153-8F2C-7EBD6DA2A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6B0180-295A-47D5-9DE5-B610066FE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BEE95F-3D21-4DA1-9ECE-766C95BA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603533-3F7C-4EFF-AE68-864EF730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97A991-508A-430A-B380-6CEAF928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3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3D6D1-503D-4FB3-AFD0-4DB39CC65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0F4144-365D-4BEF-BF36-EBB2B988F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4A233F-ECEF-4794-8E77-1E1D4AB6D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6B520-C8DA-4568-9F7F-F0242D4D1FD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345D70-F8EF-4565-AEB3-F901D95B3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DA9A92-4179-4036-9756-11A79059A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5AC27-1FA1-4306-8670-A80C41DC5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3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microsoft.com/office/2007/relationships/hdphoto" Target="../media/hdphoto5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8.png"/><Relationship Id="rId1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ECA598-1040-44F2-AE1A-6DF7ED14A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9050"/>
            <a:ext cx="12192000" cy="6875125"/>
          </a:xfrm>
          <a:prstGeom prst="rect">
            <a:avLst/>
          </a:pr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DBB19E60-2F3A-477E-8DB3-FB6D5D06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48" y="2831156"/>
            <a:ext cx="10020300" cy="1375385"/>
          </a:xfrm>
        </p:spPr>
        <p:txBody>
          <a:bodyPr>
            <a:noAutofit/>
          </a:bodyPr>
          <a:lstStyle/>
          <a:p>
            <a:pPr indent="450215">
              <a:lnSpc>
                <a:spcPct val="100000"/>
              </a:lnSpc>
              <a:spcAft>
                <a:spcPts val="0"/>
              </a:spcAft>
            </a:pPr>
            <a:r>
              <a:rPr lang="ru-RU" sz="2800" b="1" dirty="0">
                <a:latin typeface="+mn-lt"/>
              </a:rPr>
              <a:t>«Исследование применения больших языковых моделей для автоматической конфигурации сетей 5G/6G в парадигме </a:t>
            </a:r>
            <a:r>
              <a:rPr lang="ru-RU" sz="2800" b="1" dirty="0" err="1">
                <a:latin typeface="+mn-lt"/>
              </a:rPr>
              <a:t>Zero-Touch</a:t>
            </a:r>
            <a:r>
              <a:rPr lang="ru-RU" sz="2800" b="1" dirty="0">
                <a:latin typeface="+mn-lt"/>
              </a:rPr>
              <a:t> </a:t>
            </a:r>
            <a:r>
              <a:rPr lang="ru-RU" sz="2800" b="1" dirty="0" err="1">
                <a:latin typeface="+mn-lt"/>
              </a:rPr>
              <a:t>Management</a:t>
            </a:r>
            <a:r>
              <a:rPr lang="ru-RU" sz="2800" b="1" dirty="0">
                <a:latin typeface="+mn-lt"/>
              </a:rPr>
              <a:t>»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-1" y="1925"/>
            <a:ext cx="12192001" cy="2246769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Министерство образования и науки Российской Федерации</a:t>
            </a:r>
          </a:p>
          <a:p>
            <a:pPr algn="ctr"/>
            <a:r>
              <a:rPr lang="ru-RU" sz="2000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2000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«Владимирский государственный университет </a:t>
            </a:r>
            <a:br>
              <a:rPr lang="ru-RU" sz="2000" b="1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имени Александра Григорьевича и Николая Григорьевича Столетовых»</a:t>
            </a:r>
            <a:br>
              <a:rPr lang="ru-RU" sz="2000" b="1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(ВлГУ)</a:t>
            </a:r>
            <a:br>
              <a:rPr lang="ru-RU" sz="2000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2000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Институт информационных технологий и радиоэлектроники</a:t>
            </a:r>
            <a:br>
              <a:rPr lang="ru-RU" sz="2000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ln w="3175">
                  <a:noFill/>
                </a:ln>
                <a:ea typeface="Verdana" panose="020B0604030504040204" pitchFamily="34" charset="0"/>
                <a:cs typeface="Times New Roman" panose="02020603050405020304" pitchFamily="18" charset="0"/>
              </a:rPr>
              <a:t>Кафедра информатики и защиты информации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2E0D47-5419-471D-9B4A-DFF63EAFFF7E}"/>
              </a:ext>
            </a:extLst>
          </p:cNvPr>
          <p:cNvSpPr txBox="1"/>
          <p:nvPr/>
        </p:nvSpPr>
        <p:spPr>
          <a:xfrm>
            <a:off x="733425" y="24923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a typeface="Verdana" panose="020B0604030504040204" pitchFamily="34" charset="0"/>
                <a:cs typeface="Times New Roman" panose="02020603050405020304" pitchFamily="18" charset="0"/>
              </a:rPr>
              <a:t>Презентация практической работы на тему: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93D96-DFBF-4515-A495-39554E96B8C4}"/>
              </a:ext>
            </a:extLst>
          </p:cNvPr>
          <p:cNvSpPr txBox="1"/>
          <p:nvPr/>
        </p:nvSpPr>
        <p:spPr>
          <a:xfrm>
            <a:off x="4595811" y="6381967"/>
            <a:ext cx="3000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г. 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Владимир 2026</a:t>
            </a:r>
            <a:endParaRPr lang="ru-RU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27D7D665-17F7-45CA-A2D3-82555FC3372B}"/>
              </a:ext>
            </a:extLst>
          </p:cNvPr>
          <p:cNvPicPr/>
          <p:nvPr/>
        </p:nvPicPr>
        <p:blipFill>
          <a:blip r:embed="rId5" cstate="print"/>
          <a:stretch/>
        </p:blipFill>
        <p:spPr>
          <a:xfrm>
            <a:off x="629835" y="5324341"/>
            <a:ext cx="1101333" cy="1057492"/>
          </a:xfrm>
          <a:prstGeom prst="rect">
            <a:avLst/>
          </a:prstGeom>
          <a:ln w="0">
            <a:noFill/>
          </a:ln>
        </p:spPr>
      </p:pic>
      <p:pic>
        <p:nvPicPr>
          <p:cNvPr id="24" name="Picture 12">
            <a:extLst>
              <a:ext uri="{FF2B5EF4-FFF2-40B4-BE49-F238E27FC236}">
                <a16:creationId xmlns:a16="http://schemas.microsoft.com/office/drawing/2014/main" id="{B97743D9-6C69-4B18-B70A-AEA5AA7A271B}"/>
              </a:ext>
            </a:extLst>
          </p:cNvPr>
          <p:cNvPicPr/>
          <p:nvPr/>
        </p:nvPicPr>
        <p:blipFill>
          <a:blip r:embed="rId6" cstate="print"/>
          <a:stretch/>
        </p:blipFill>
        <p:spPr>
          <a:xfrm>
            <a:off x="2361003" y="5780598"/>
            <a:ext cx="1238100" cy="546834"/>
          </a:xfrm>
          <a:prstGeom prst="rect">
            <a:avLst/>
          </a:prstGeom>
          <a:ln w="0"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AD0941B-DE01-474D-A6F3-55C31328BCE8}"/>
              </a:ext>
            </a:extLst>
          </p:cNvPr>
          <p:cNvSpPr txBox="1"/>
          <p:nvPr/>
        </p:nvSpPr>
        <p:spPr>
          <a:xfrm>
            <a:off x="10172700" y="5407684"/>
            <a:ext cx="1771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1" dirty="0"/>
              <a:t>Руководитель: </a:t>
            </a:r>
          </a:p>
          <a:p>
            <a:pPr algn="r"/>
            <a:r>
              <a:rPr lang="ru-RU" dirty="0"/>
              <a:t>Монахов Ю.М.</a:t>
            </a:r>
          </a:p>
        </p:txBody>
      </p:sp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1</a:t>
            </a:fld>
            <a:endParaRPr lang="ru-RU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6A63A5-8133-490F-966E-62D74FB9A2DA}"/>
              </a:ext>
            </a:extLst>
          </p:cNvPr>
          <p:cNvSpPr txBox="1"/>
          <p:nvPr/>
        </p:nvSpPr>
        <p:spPr>
          <a:xfrm>
            <a:off x="7962900" y="4444391"/>
            <a:ext cx="39814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r">
              <a:lnSpc>
                <a:spcPct val="100000"/>
              </a:lnSpc>
              <a:spcAft>
                <a:spcPts val="0"/>
              </a:spcAft>
            </a:pPr>
            <a:r>
              <a:rPr lang="ru-RU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pPr indent="450215" algn="r"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Студентка группы ИСБ-124</a:t>
            </a:r>
            <a:endParaRPr lang="ru-RU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r">
              <a:lnSpc>
                <a:spcPct val="100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Кияновская Екатерина Денисовна</a:t>
            </a:r>
          </a:p>
        </p:txBody>
      </p:sp>
    </p:spTree>
    <p:extLst>
      <p:ext uri="{BB962C8B-B14F-4D97-AF65-F5344CB8AC3E}">
        <p14:creationId xmlns:p14="http://schemas.microsoft.com/office/powerpoint/2010/main" val="426184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ECA598-1040-44F2-AE1A-6DF7ED14A7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949244-06CC-4549-B44D-B1098EBFC30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3078232" y="147746"/>
            <a:ext cx="6065767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</a:rPr>
              <a:t>Актуальность и проблема</a:t>
            </a:r>
          </a:p>
        </p:txBody>
      </p:sp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2</a:t>
            </a:fld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B65468-7043-4DCC-BB4E-3F74002A16A2}"/>
              </a:ext>
            </a:extLst>
          </p:cNvPr>
          <p:cNvSpPr txBox="1"/>
          <p:nvPr/>
        </p:nvSpPr>
        <p:spPr>
          <a:xfrm>
            <a:off x="448502" y="749656"/>
            <a:ext cx="11325225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   </a:t>
            </a:r>
            <a:r>
              <a:rPr lang="ru-RU" sz="2300" dirty="0"/>
              <a:t>Сети 5G/6G — это сложные программируемые платформы с множеством параметров. Ручное управление такими сетями — неэффективно, дорого и подвержено ошибкам из-за человеческого фактора. </a:t>
            </a:r>
          </a:p>
          <a:p>
            <a:pPr algn="just"/>
            <a:r>
              <a:rPr lang="ru-RU" sz="2300" dirty="0"/>
              <a:t>   Концепция Zero-Touch Management (ZSM) предлагает решение: человек задаёт интент на естественном языке, система автоматически генерирует и применяет конфигурации.</a:t>
            </a:r>
          </a:p>
          <a:p>
            <a:pPr algn="just"/>
            <a:r>
              <a:rPr lang="ru-RU" sz="2300" dirty="0"/>
              <a:t>  Особый интерес — применение больших языковых моделей (LLM) для перевода </a:t>
            </a:r>
            <a:r>
              <a:rPr lang="ru-RU" sz="2300" dirty="0" err="1"/>
              <a:t>интентов</a:t>
            </a:r>
            <a:r>
              <a:rPr lang="ru-RU" sz="2300" dirty="0"/>
              <a:t> в команды CLI. Это интуитивно, снижает порог входа и позволяет работать локально без облаков.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CB4FA-6C72-4D40-1156-5610A542AF9F}"/>
              </a:ext>
            </a:extLst>
          </p:cNvPr>
          <p:cNvSpPr txBox="1"/>
          <p:nvPr/>
        </p:nvSpPr>
        <p:spPr>
          <a:xfrm>
            <a:off x="463615" y="3800020"/>
            <a:ext cx="112949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Проблема: </a:t>
            </a:r>
          </a:p>
          <a:p>
            <a:pPr lvl="1" algn="just"/>
            <a:r>
              <a:rPr lang="ru-RU" sz="2400" dirty="0"/>
              <a:t>LLM галлюцинируют — генерируют синтаксически верные, но ошибочные команды. Требуется верификация.</a:t>
            </a:r>
          </a:p>
          <a:p>
            <a:pPr algn="just"/>
            <a:r>
              <a:rPr lang="ru-RU" sz="2400" dirty="0"/>
              <a:t> Актуальность: </a:t>
            </a:r>
          </a:p>
          <a:p>
            <a:pPr lvl="1" algn="just"/>
            <a:r>
              <a:rPr lang="ru-RU" sz="2400" dirty="0"/>
              <a:t>Мало экспериментальных работ по применению локальных LLM для генерации конфигураций с замерами производительности.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464082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1B7DB89-1338-4C87-B08A-0D5BF081D81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1431236" y="147746"/>
            <a:ext cx="8865704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</a:rPr>
              <a:t>Цель и задачи</a:t>
            </a:r>
          </a:p>
        </p:txBody>
      </p:sp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3</a:t>
            </a:fld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C24FD-8F96-97B6-E44A-630531B175CA}"/>
              </a:ext>
            </a:extLst>
          </p:cNvPr>
          <p:cNvSpPr txBox="1"/>
          <p:nvPr/>
        </p:nvSpPr>
        <p:spPr>
          <a:xfrm>
            <a:off x="341907" y="628987"/>
            <a:ext cx="115373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   </a:t>
            </a:r>
            <a:r>
              <a:rPr lang="ru-RU" sz="2700" dirty="0"/>
              <a:t>Цель: </a:t>
            </a:r>
          </a:p>
          <a:p>
            <a:pPr algn="just"/>
            <a:r>
              <a:rPr lang="ru-RU" sz="2700" dirty="0"/>
              <a:t>Исследовать применимость LLM для автоматической генерации конфигураций сетевых устройств в парадигме ZSM и экспериментально подтвердить возможность такой генерации на локальном оборудовании.</a:t>
            </a:r>
          </a:p>
          <a:p>
            <a:pPr algn="just"/>
            <a:r>
              <a:rPr lang="ru-RU" sz="2700" dirty="0"/>
              <a:t>    Задачи:</a:t>
            </a:r>
          </a:p>
          <a:p>
            <a:pPr marL="357188" indent="-357188" algn="just">
              <a:buFont typeface="+mj-lt"/>
              <a:buAutoNum type="arabicPeriod"/>
            </a:pPr>
            <a:r>
              <a:rPr lang="ru-RU" sz="2700" dirty="0"/>
              <a:t>Провести обзор ZSM и существующих LLM-подходов</a:t>
            </a:r>
          </a:p>
          <a:p>
            <a:pPr marL="357188" indent="-357188" algn="just">
              <a:buFont typeface="+mj-lt"/>
              <a:buAutoNum type="arabicPeriod"/>
            </a:pPr>
            <a:r>
              <a:rPr lang="ru-RU" sz="2700" dirty="0"/>
              <a:t>Проанализировать архитектуру LLM-</a:t>
            </a:r>
            <a:r>
              <a:rPr lang="ru-RU" sz="2700" dirty="0" err="1"/>
              <a:t>NetCFG</a:t>
            </a:r>
            <a:endParaRPr lang="ru-RU" sz="2700" dirty="0"/>
          </a:p>
          <a:p>
            <a:pPr marL="357188" indent="-357188" algn="just">
              <a:buFont typeface="+mj-lt"/>
              <a:buAutoNum type="arabicPeriod"/>
            </a:pPr>
            <a:r>
              <a:rPr lang="ru-RU" sz="2700" dirty="0"/>
              <a:t>Реализовать </a:t>
            </a:r>
            <a:r>
              <a:rPr lang="ru-RU" sz="2700" dirty="0" err="1"/>
              <a:t>многоагентную</a:t>
            </a:r>
            <a:r>
              <a:rPr lang="ru-RU" sz="2700" dirty="0"/>
              <a:t> систему на базе локальной LLM phi3:mini</a:t>
            </a:r>
          </a:p>
          <a:p>
            <a:pPr marL="357188" indent="-357188" algn="just">
              <a:buFont typeface="+mj-lt"/>
              <a:buAutoNum type="arabicPeriod"/>
            </a:pPr>
            <a:r>
              <a:rPr lang="ru-RU" sz="2700" dirty="0"/>
              <a:t>Провести замеры производительности и дать рекомендации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42F11E-F2C2-DE62-3EF8-C23AC124D4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603" t="28995" r="1417" b="37030"/>
          <a:stretch/>
        </p:blipFill>
        <p:spPr>
          <a:xfrm>
            <a:off x="2194560" y="4485553"/>
            <a:ext cx="7673009" cy="953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4C8493-849E-AAF8-0C6C-F865B00DF1F8}"/>
              </a:ext>
            </a:extLst>
          </p:cNvPr>
          <p:cNvSpPr txBox="1"/>
          <p:nvPr/>
        </p:nvSpPr>
        <p:spPr>
          <a:xfrm>
            <a:off x="7472617" y="5340258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короткая схема LLM-подхода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C0CFA89-3635-6B2F-C0C4-4F4F1F64A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06" y="5731418"/>
            <a:ext cx="11537341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Без LLM: инженер вручную пишет команды. С LLM: оператор пишет "Настрой OSPF с аутентификацией", LLM генерирует: </a:t>
            </a:r>
            <a:r>
              <a:rPr lang="ru-RU" altLang="ru-RU" dirty="0" err="1"/>
              <a:t>router</a:t>
            </a:r>
            <a:r>
              <a:rPr lang="ru-RU" altLang="ru-RU" dirty="0"/>
              <a:t> </a:t>
            </a:r>
            <a:r>
              <a:rPr lang="ru-RU" altLang="ru-RU" dirty="0" err="1"/>
              <a:t>ospf</a:t>
            </a:r>
            <a:r>
              <a:rPr lang="ru-RU" altLang="ru-RU" dirty="0"/>
              <a:t> 1, </a:t>
            </a:r>
            <a:r>
              <a:rPr lang="ru-RU" altLang="ru-RU" dirty="0" err="1"/>
              <a:t>network</a:t>
            </a:r>
            <a:r>
              <a:rPr lang="ru-RU" altLang="ru-RU" dirty="0"/>
              <a:t> ..., </a:t>
            </a:r>
            <a:r>
              <a:rPr lang="ru-RU" altLang="ru-RU" dirty="0" err="1"/>
              <a:t>area</a:t>
            </a:r>
            <a:r>
              <a:rPr lang="ru-RU" altLang="ru-RU" dirty="0"/>
              <a:t> 0.</a:t>
            </a:r>
          </a:p>
        </p:txBody>
      </p:sp>
    </p:spTree>
    <p:extLst>
      <p:ext uri="{BB962C8B-B14F-4D97-AF65-F5344CB8AC3E}">
        <p14:creationId xmlns:p14="http://schemas.microsoft.com/office/powerpoint/2010/main" val="175260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1431236" y="147746"/>
            <a:ext cx="8865704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</a:rPr>
              <a:t>ОБЪЕКТ, ПРЕДМЕТ, МЕТОДОЛОГИЯ </a:t>
            </a:r>
          </a:p>
        </p:txBody>
      </p:sp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4</a:t>
            </a:fld>
            <a:endParaRPr lang="ru-RU" sz="2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81B667-99BC-41F1-B1EE-9F8133E062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4942B6-5D9B-DF5B-A291-76BC57F038A9}"/>
              </a:ext>
            </a:extLst>
          </p:cNvPr>
          <p:cNvSpPr txBox="1"/>
          <p:nvPr/>
        </p:nvSpPr>
        <p:spPr>
          <a:xfrm>
            <a:off x="292528" y="819478"/>
            <a:ext cx="116069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   Объект: </a:t>
            </a:r>
          </a:p>
          <a:p>
            <a:pPr algn="just"/>
            <a:r>
              <a:rPr lang="ru-RU" sz="2800" dirty="0"/>
              <a:t>Процесс автоматической конфигурации сетевых устройств в Zero-Touch архитектурах для сетей 5G/6G.</a:t>
            </a:r>
          </a:p>
          <a:p>
            <a:pPr algn="just"/>
            <a:r>
              <a:rPr lang="ru-RU" sz="2800" dirty="0"/>
              <a:t>   Предмет: </a:t>
            </a:r>
          </a:p>
          <a:p>
            <a:pPr algn="just"/>
            <a:r>
              <a:rPr lang="ru-RU" sz="2800" dirty="0"/>
              <a:t>Методы генерации конфигураций с использованием LLM</a:t>
            </a:r>
          </a:p>
          <a:p>
            <a:pPr algn="just"/>
            <a:r>
              <a:rPr lang="ru-RU" sz="2800" dirty="0"/>
              <a:t>  Методология:</a:t>
            </a:r>
          </a:p>
          <a:p>
            <a:pPr marL="271463" indent="-271463" algn="just">
              <a:buFont typeface="Arial" panose="020B0604020202020204" pitchFamily="34" charset="0"/>
              <a:buChar char="•"/>
            </a:pPr>
            <a:r>
              <a:rPr lang="ru-RU" sz="2800" dirty="0"/>
              <a:t>систематический обзор литературы</a:t>
            </a:r>
          </a:p>
          <a:p>
            <a:pPr marL="271463" indent="-271463" algn="just">
              <a:buFont typeface="Arial" panose="020B0604020202020204" pitchFamily="34" charset="0"/>
              <a:buChar char="•"/>
            </a:pPr>
            <a:r>
              <a:rPr lang="ru-RU" sz="2800" dirty="0"/>
              <a:t>сравнительный анализ архитектур</a:t>
            </a:r>
          </a:p>
          <a:p>
            <a:pPr marL="271463" indent="-271463" algn="just">
              <a:buFont typeface="Arial" panose="020B0604020202020204" pitchFamily="34" charset="0"/>
              <a:buChar char="•"/>
            </a:pPr>
            <a:r>
              <a:rPr lang="ru-RU" sz="2800" dirty="0"/>
              <a:t>экспериментальное моделирование</a:t>
            </a:r>
          </a:p>
          <a:p>
            <a:pPr marL="271463" indent="-271463" algn="just">
              <a:buFont typeface="Arial" panose="020B0604020202020204" pitchFamily="34" charset="0"/>
              <a:buChar char="•"/>
            </a:pPr>
            <a:r>
              <a:rPr lang="ru-RU" sz="2800" dirty="0"/>
              <a:t>качественный анализ результатов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D37A083-E910-A34E-03D0-C95B2288573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132" t="5215" r="3226" b="4958"/>
          <a:stretch/>
        </p:blipFill>
        <p:spPr bwMode="auto">
          <a:xfrm>
            <a:off x="6426200" y="3108773"/>
            <a:ext cx="5015170" cy="2463502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FDEF1D-BC4B-A1BD-3DBA-620A234BD259}"/>
              </a:ext>
            </a:extLst>
          </p:cNvPr>
          <p:cNvSpPr txBox="1"/>
          <p:nvPr/>
        </p:nvSpPr>
        <p:spPr>
          <a:xfrm>
            <a:off x="7176456" y="5572275"/>
            <a:ext cx="3393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замкнутый контур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closed loop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17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1431236" y="150865"/>
            <a:ext cx="8865704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</a:rPr>
              <a:t>Экспериментальная реализация</a:t>
            </a:r>
          </a:p>
        </p:txBody>
      </p:sp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5</a:t>
            </a:fld>
            <a:endParaRPr lang="ru-RU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9395E1-5F45-49CC-8EBB-3E5EEBAEB0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655242-E654-A262-55C3-DA1F220F1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96" y="2167226"/>
            <a:ext cx="12025021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ru-RU" altLang="ru-RU" sz="2000" dirty="0"/>
              <a:t>Был установлен и запущен локальный LLM-сервер Ollama. Загружена модель phi3:mini 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000" dirty="0"/>
              <a:t>(команда ollama </a:t>
            </a:r>
            <a:r>
              <a:rPr lang="ru-RU" altLang="ru-RU" sz="2000" dirty="0" err="1"/>
              <a:t>pull</a:t>
            </a:r>
            <a:r>
              <a:rPr lang="ru-RU" altLang="ru-RU" sz="2000" dirty="0"/>
              <a:t> phi3:mini), адаптированная для работы на оборудовании ограниченной мощности.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dirty="0"/>
              <a:t>2. Для каждого из трёх агентов разработаны индивидуальные системные </a:t>
            </a:r>
            <a:r>
              <a:rPr lang="ru-RU" sz="2000" dirty="0" err="1"/>
              <a:t>промпты</a:t>
            </a:r>
            <a:r>
              <a:rPr lang="ru-RU" sz="2000" dirty="0"/>
              <a:t>, определяющие их роль и формат ответа: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sz="2000" dirty="0"/>
          </a:p>
          <a:p>
            <a:pPr algn="l"/>
            <a:endParaRPr lang="ru-RU" altLang="ru-RU" sz="2000" dirty="0"/>
          </a:p>
          <a:p>
            <a:pPr algn="l"/>
            <a:endParaRPr lang="ru-RU" altLang="ru-RU" sz="2000" dirty="0"/>
          </a:p>
          <a:p>
            <a:pPr algn="l"/>
            <a:endParaRPr lang="ru-RU" altLang="ru-RU" sz="2000" dirty="0"/>
          </a:p>
          <a:p>
            <a:pPr algn="l"/>
            <a:r>
              <a:rPr lang="ru-RU" altLang="ru-RU" sz="2000" dirty="0"/>
              <a:t>3. </a:t>
            </a:r>
            <a:r>
              <a:rPr lang="ru-RU" sz="2000" dirty="0"/>
              <a:t>Разработан Python-скрипт, который:</a:t>
            </a:r>
          </a:p>
          <a:p>
            <a:pPr marL="269875" indent="-90488" algn="l">
              <a:buFont typeface="Arial" panose="020B0604020202020204" pitchFamily="34" charset="0"/>
              <a:buChar char="•"/>
            </a:pPr>
            <a:r>
              <a:rPr lang="ru-RU" sz="2000" dirty="0"/>
              <a:t> Последовательно вызывает трёх агентов через API Ollama</a:t>
            </a:r>
          </a:p>
          <a:p>
            <a:pPr marL="269875" indent="-90488" algn="l">
              <a:buFont typeface="Arial" panose="020B0604020202020204" pitchFamily="34" charset="0"/>
              <a:buChar char="•"/>
            </a:pPr>
            <a:r>
              <a:rPr lang="ru-RU" sz="2000" dirty="0"/>
              <a:t> Передаёт каждому свой </a:t>
            </a:r>
            <a:r>
              <a:rPr lang="ru-RU" sz="2000" dirty="0" err="1"/>
              <a:t>промт</a:t>
            </a:r>
            <a:r>
              <a:rPr lang="ru-RU" sz="2000" dirty="0"/>
              <a:t> и контекст</a:t>
            </a:r>
          </a:p>
          <a:p>
            <a:pPr marL="269875" indent="-90488" algn="l">
              <a:buFont typeface="Arial" panose="020B0604020202020204" pitchFamily="34" charset="0"/>
              <a:buChar char="•"/>
            </a:pPr>
            <a:r>
              <a:rPr lang="ru-RU" sz="2000" dirty="0"/>
              <a:t> Замеряет время выполнения, потребление RAM, загрузку CPU и количество токенов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876B9-33D5-738F-7EC5-E3ABBE95431D}"/>
              </a:ext>
            </a:extLst>
          </p:cNvPr>
          <p:cNvSpPr txBox="1"/>
          <p:nvPr/>
        </p:nvSpPr>
        <p:spPr>
          <a:xfrm>
            <a:off x="796666" y="1843545"/>
            <a:ext cx="2908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Ход работы: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34EC798-A006-AE82-0BD5-D74997FFC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881395"/>
              </p:ext>
            </p:extLst>
          </p:nvPr>
        </p:nvGraphicFramePr>
        <p:xfrm>
          <a:off x="691764" y="3810360"/>
          <a:ext cx="9724444" cy="1143000"/>
        </p:xfrm>
        <a:graphic>
          <a:graphicData uri="http://schemas.openxmlformats.org/drawingml/2006/table">
            <a:tbl>
              <a:tblPr firstRow="1" bandRow="1"/>
              <a:tblGrid>
                <a:gridCol w="2350860">
                  <a:extLst>
                    <a:ext uri="{9D8B030D-6E8A-4147-A177-3AD203B41FA5}">
                      <a16:colId xmlns:a16="http://schemas.microsoft.com/office/drawing/2014/main" val="2715100800"/>
                    </a:ext>
                  </a:extLst>
                </a:gridCol>
                <a:gridCol w="7373584">
                  <a:extLst>
                    <a:ext uri="{9D8B030D-6E8A-4147-A177-3AD203B41FA5}">
                      <a16:colId xmlns:a16="http://schemas.microsoft.com/office/drawing/2014/main" val="2012205482"/>
                    </a:ext>
                  </a:extLst>
                </a:gridCol>
              </a:tblGrid>
              <a:tr h="342937">
                <a:tc>
                  <a:txBody>
                    <a:bodyPr/>
                    <a:lstStyle/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900" dirty="0"/>
                        <a:t>Agent1_Translator</a:t>
                      </a:r>
                      <a:endParaRPr kumimoji="0" lang="ru-RU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сетевой архитектор: переводит интент в технические требования</a:t>
                      </a:r>
                      <a:endParaRPr kumimoji="0" lang="ru-RU" altLang="ru-RU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1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Agent2_Writer</a:t>
                      </a:r>
                      <a:endParaRPr kumimoji="0" lang="ru-RU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инженер Cisco: генерирует команды CLI по требованиям</a:t>
                      </a:r>
                      <a:endParaRPr kumimoji="0" lang="ru-RU" altLang="ru-RU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343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Agent3_Verifier</a:t>
                      </a:r>
                      <a:endParaRPr kumimoji="0" lang="ru-RU" altLang="ru-RU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9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эксперт по безопасности: проверяет конфигурацию</a:t>
                      </a:r>
                      <a:endParaRPr kumimoji="0" lang="ru-RU" altLang="ru-RU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497399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87D4AA0-2C67-2C83-9C82-520CF5E27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70470"/>
              </p:ext>
            </p:extLst>
          </p:nvPr>
        </p:nvGraphicFramePr>
        <p:xfrm>
          <a:off x="278296" y="736224"/>
          <a:ext cx="1143397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9607">
                  <a:extLst>
                    <a:ext uri="{9D8B030D-6E8A-4147-A177-3AD203B41FA5}">
                      <a16:colId xmlns:a16="http://schemas.microsoft.com/office/drawing/2014/main" val="85053551"/>
                    </a:ext>
                  </a:extLst>
                </a:gridCol>
                <a:gridCol w="4314050">
                  <a:extLst>
                    <a:ext uri="{9D8B030D-6E8A-4147-A177-3AD203B41FA5}">
                      <a16:colId xmlns:a16="http://schemas.microsoft.com/office/drawing/2014/main" val="4166247163"/>
                    </a:ext>
                  </a:extLst>
                </a:gridCol>
                <a:gridCol w="2810318">
                  <a:extLst>
                    <a:ext uri="{9D8B030D-6E8A-4147-A177-3AD203B41FA5}">
                      <a16:colId xmlns:a16="http://schemas.microsoft.com/office/drawing/2014/main" val="3655435254"/>
                    </a:ext>
                  </a:extLst>
                </a:gridCol>
              </a:tblGrid>
              <a:tr h="32187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Стенд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Эксперимент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Метрики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91355"/>
                  </a:ext>
                </a:extLst>
              </a:tr>
              <a:tr h="793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ноутбук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Windows 11,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Ollama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модель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phi3:mini, Python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 (3 интента × 3 прогона). В каждом эксперименте последовательно работали 3 агента = 27 записей с результатами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время, память,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CPU,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токены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587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676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1431236" y="150865"/>
            <a:ext cx="8865704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</a:rPr>
              <a:t>Примеры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C8E0DB-40B9-496C-97BA-ABF7B3D682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445" y="619037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6</a:t>
            </a:fld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E6C668-9741-7999-31A5-04BE2C7241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0607" t="9836" b="7710"/>
          <a:stretch/>
        </p:blipFill>
        <p:spPr>
          <a:xfrm>
            <a:off x="8511775" y="1005010"/>
            <a:ext cx="2329151" cy="16076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F9491-8917-AD0A-1DB1-A03B1816F2AB}"/>
              </a:ext>
            </a:extLst>
          </p:cNvPr>
          <p:cNvSpPr txBox="1"/>
          <p:nvPr/>
        </p:nvSpPr>
        <p:spPr>
          <a:xfrm>
            <a:off x="8465252" y="2551162"/>
            <a:ext cx="297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Команды </a:t>
            </a:r>
            <a:r>
              <a:rPr lang="en-US" dirty="0"/>
              <a:t>router </a:t>
            </a:r>
            <a:r>
              <a:rPr lang="en-US" dirty="0" err="1"/>
              <a:t>eap</a:t>
            </a:r>
            <a:r>
              <a:rPr lang="en-US" dirty="0"/>
              <a:t> </a:t>
            </a:r>
            <a:r>
              <a:rPr lang="ru-RU" dirty="0"/>
              <a:t>НЕ СУЩЕСТВУЕТ в </a:t>
            </a:r>
            <a:r>
              <a:rPr lang="en-US" dirty="0"/>
              <a:t>cisco IOS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B2146E5-87C3-1D7E-05E4-D91D4E35D4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992" t="16366"/>
          <a:stretch/>
        </p:blipFill>
        <p:spPr>
          <a:xfrm>
            <a:off x="576796" y="1156919"/>
            <a:ext cx="6993675" cy="14786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61713B-1D54-E08B-F6B1-E02006DD825F}"/>
              </a:ext>
            </a:extLst>
          </p:cNvPr>
          <p:cNvSpPr txBox="1"/>
          <p:nvPr/>
        </p:nvSpPr>
        <p:spPr>
          <a:xfrm>
            <a:off x="501919" y="2600247"/>
            <a:ext cx="676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Команда </a:t>
            </a:r>
            <a:r>
              <a:rPr lang="en-US" dirty="0" err="1"/>
              <a:t>mlps</a:t>
            </a:r>
            <a:r>
              <a:rPr lang="en-US" dirty="0"/>
              <a:t> traffic engagement </a:t>
            </a:r>
            <a:r>
              <a:rPr lang="ru-RU" dirty="0"/>
              <a:t>НЕ СУЩЕСТВУЕТ в </a:t>
            </a:r>
            <a:r>
              <a:rPr lang="en-US" dirty="0"/>
              <a:t>cisco IOS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1F7281-3267-E4A3-5011-B4C281798159}"/>
              </a:ext>
            </a:extLst>
          </p:cNvPr>
          <p:cNvSpPr txBox="1"/>
          <p:nvPr/>
        </p:nvSpPr>
        <p:spPr>
          <a:xfrm>
            <a:off x="501919" y="806902"/>
            <a:ext cx="3512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Галлюцинации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Agent2_Writer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99AFD3-2F36-341A-23A9-1E89002AF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96" y="5697465"/>
            <a:ext cx="4232746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/>
              <a:t>Модель генерирует бесконечный список выдуманных </a:t>
            </a:r>
            <a:r>
              <a:rPr lang="ru-RU" altLang="ru-RU" sz="1600" dirty="0" err="1"/>
              <a:t>no</a:t>
            </a:r>
            <a:r>
              <a:rPr lang="ru-RU" altLang="ru-RU" sz="1600" dirty="0"/>
              <a:t> </a:t>
            </a:r>
            <a:r>
              <a:rPr lang="ru-RU" altLang="ru-RU" sz="1600" dirty="0" err="1"/>
              <a:t>ip</a:t>
            </a:r>
            <a:r>
              <a:rPr lang="ru-RU" altLang="ru-RU" sz="1600" dirty="0"/>
              <a:t> </a:t>
            </a:r>
            <a:r>
              <a:rPr lang="ru-RU" altLang="ru-RU" sz="1600" dirty="0" err="1"/>
              <a:t>http</a:t>
            </a:r>
            <a:r>
              <a:rPr lang="ru-RU" altLang="ru-RU" sz="1600" dirty="0"/>
              <a:t>-* команд, упирается в лимит 500 токенов.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90798-5814-638C-F8CE-C16C6EE99244}"/>
              </a:ext>
            </a:extLst>
          </p:cNvPr>
          <p:cNvSpPr txBox="1"/>
          <p:nvPr/>
        </p:nvSpPr>
        <p:spPr>
          <a:xfrm>
            <a:off x="5635235" y="3275672"/>
            <a:ext cx="4327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Галлюцинации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_Verifier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D370B85-6BAA-7730-BD97-CF49110562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5364" r="1171" b="5317"/>
          <a:stretch/>
        </p:blipFill>
        <p:spPr>
          <a:xfrm>
            <a:off x="566695" y="3477437"/>
            <a:ext cx="4004809" cy="22380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0D158B-58F3-F3D6-9101-5F88BF921F59}"/>
              </a:ext>
            </a:extLst>
          </p:cNvPr>
          <p:cNvSpPr txBox="1"/>
          <p:nvPr/>
        </p:nvSpPr>
        <p:spPr>
          <a:xfrm>
            <a:off x="5654641" y="5619058"/>
            <a:ext cx="5813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Модель не может остановиться и генерирует одно и то же, пока не упирается в 500 токенов.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BA3586A-15BB-2DF5-C84E-1D1D0724B3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99521" y="3634094"/>
            <a:ext cx="5768349" cy="205045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618ED-C2AB-BC24-A543-5A450173169E}"/>
              </a:ext>
            </a:extLst>
          </p:cNvPr>
          <p:cNvSpPr txBox="1"/>
          <p:nvPr/>
        </p:nvSpPr>
        <p:spPr>
          <a:xfrm>
            <a:off x="501919" y="3093498"/>
            <a:ext cx="3512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Галлюцинации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Agent2_Writer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DEB773-BAFE-FA76-416E-8DDCE347D69F}"/>
              </a:ext>
            </a:extLst>
          </p:cNvPr>
          <p:cNvSpPr txBox="1"/>
          <p:nvPr/>
        </p:nvSpPr>
        <p:spPr>
          <a:xfrm>
            <a:off x="8348864" y="636231"/>
            <a:ext cx="3512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Галлюцинации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Agent2_Writer</a:t>
            </a: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796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1431236" y="150865"/>
            <a:ext cx="8865704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00000"/>
                </a:solidFill>
                <a:effectLst/>
                <a:latin typeface="quote-cjk-patch"/>
              </a:rPr>
              <a:t>Результаты: CPU, память и время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C8E0DB-40B9-496C-97BA-ABF7B3D682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445" y="619037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7</a:t>
            </a:fld>
            <a:endParaRPr lang="ru-RU" sz="20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C2E2BFB-512F-B896-4E31-50D01A1C6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470927"/>
              </p:ext>
            </p:extLst>
          </p:nvPr>
        </p:nvGraphicFramePr>
        <p:xfrm>
          <a:off x="5965091" y="1187399"/>
          <a:ext cx="5615999" cy="17272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761078">
                  <a:extLst>
                    <a:ext uri="{9D8B030D-6E8A-4147-A177-3AD203B41FA5}">
                      <a16:colId xmlns:a16="http://schemas.microsoft.com/office/drawing/2014/main" val="4284236041"/>
                    </a:ext>
                  </a:extLst>
                </a:gridCol>
                <a:gridCol w="1247614">
                  <a:extLst>
                    <a:ext uri="{9D8B030D-6E8A-4147-A177-3AD203B41FA5}">
                      <a16:colId xmlns:a16="http://schemas.microsoft.com/office/drawing/2014/main" val="3435531243"/>
                    </a:ext>
                  </a:extLst>
                </a:gridCol>
                <a:gridCol w="1187532">
                  <a:extLst>
                    <a:ext uri="{9D8B030D-6E8A-4147-A177-3AD203B41FA5}">
                      <a16:colId xmlns:a16="http://schemas.microsoft.com/office/drawing/2014/main" val="614086885"/>
                    </a:ext>
                  </a:extLst>
                </a:gridCol>
                <a:gridCol w="1419775">
                  <a:extLst>
                    <a:ext uri="{9D8B030D-6E8A-4147-A177-3AD203B41FA5}">
                      <a16:colId xmlns:a16="http://schemas.microsoft.com/office/drawing/2014/main" val="435057964"/>
                    </a:ext>
                  </a:extLst>
                </a:gridCol>
              </a:tblGrid>
              <a:tr h="430108"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</a:rPr>
                        <a:t>Агент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</a:rPr>
                        <a:t>Средний </a:t>
                      </a:r>
                      <a:r>
                        <a:rPr lang="en-US" sz="1600" b="0" dirty="0">
                          <a:effectLst/>
                        </a:rPr>
                        <a:t>CPU, %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</a:rPr>
                        <a:t>Средняя </a:t>
                      </a:r>
                      <a:r>
                        <a:rPr lang="en-US" sz="1600" b="0" dirty="0">
                          <a:effectLst/>
                        </a:rPr>
                        <a:t>RAM, </a:t>
                      </a:r>
                      <a:r>
                        <a:rPr lang="ru-RU" sz="1600" b="0" dirty="0">
                          <a:effectLst/>
                        </a:rPr>
                        <a:t>МБ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</a:rPr>
                        <a:t>Среднее </a:t>
                      </a:r>
                      <a:r>
                        <a:rPr lang="ru-RU" sz="1600" b="0" dirty="0" err="1">
                          <a:effectLst/>
                        </a:rPr>
                        <a:t>вр</a:t>
                      </a:r>
                      <a:r>
                        <a:rPr lang="ru-RU" sz="1600" b="0" dirty="0">
                          <a:effectLst/>
                        </a:rPr>
                        <a:t>, сек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129496"/>
                  </a:ext>
                </a:extLst>
              </a:tr>
              <a:tr h="259487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Agent1_Translator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</a:rPr>
                        <a:t>38.3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</a:rPr>
                        <a:t>0.19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13.03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650017"/>
                  </a:ext>
                </a:extLst>
              </a:tr>
              <a:tr h="25948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</a:rPr>
                        <a:t>Agent2_Writer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−1.1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0.10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53.01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79364"/>
                  </a:ext>
                </a:extLst>
              </a:tr>
              <a:tr h="259487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Agent3_Verifier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−0.4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−0.13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</a:rPr>
                        <a:t>67.87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3121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278696B-FF4C-0DC4-EF35-D6FE9DF48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091" y="2969250"/>
            <a:ext cx="5696518" cy="3481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77763" rIns="0" bIns="77763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Выводы по слайду: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 Чем длиннее запрос к модели, тем дольше она отвечает. Короткий перевод — 13 секунд, длинная проверка — почти 68.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 По процессору заметная нагрузка только у переводчика. У остальных цифры скачут, потому что замер делался слишком грубо.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 По памяти модель нетребовательная — везде единицы мегабайт.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 Если нужны точные цифры для отчёта, замеры ресурсов надо переделать: мерить с интервалом и усреднять.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C883627-F97E-9DC4-6F31-FD7919B8E1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89" t="2201" r="1413" b="1734"/>
          <a:stretch/>
        </p:blipFill>
        <p:spPr bwMode="auto">
          <a:xfrm>
            <a:off x="208098" y="1188749"/>
            <a:ext cx="5239037" cy="345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CD07EE-5502-34CA-1023-4C25E1DF806F}"/>
              </a:ext>
            </a:extLst>
          </p:cNvPr>
          <p:cNvSpPr txBox="1"/>
          <p:nvPr/>
        </p:nvSpPr>
        <p:spPr>
          <a:xfrm>
            <a:off x="208098" y="797196"/>
            <a:ext cx="5148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Среднее время ответа по агентам.</a:t>
            </a:r>
            <a:endParaRPr lang="ru-RU" altLang="ru-RU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2B1F0F-E4CA-8200-1082-BA363C039E56}"/>
              </a:ext>
            </a:extLst>
          </p:cNvPr>
          <p:cNvSpPr txBox="1"/>
          <p:nvPr/>
        </p:nvSpPr>
        <p:spPr>
          <a:xfrm>
            <a:off x="293856" y="4678747"/>
            <a:ext cx="52390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/>
              <a:t>Отрицательные значения CPU и RAM — погрешность замера. Мы мерили нагрузку до и после запуска, а фон в это время скакал, поэтому разница ушла в минус. Чтобы получить точные цифры, нужно мерить с интервалом и усреднять по нескольким точкам.</a:t>
            </a:r>
            <a:endParaRPr lang="ru-RU" alt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736C1B-7C91-BAEE-3574-BFF09CF37E02}"/>
              </a:ext>
            </a:extLst>
          </p:cNvPr>
          <p:cNvSpPr txBox="1"/>
          <p:nvPr/>
        </p:nvSpPr>
        <p:spPr>
          <a:xfrm>
            <a:off x="5956452" y="803786"/>
            <a:ext cx="609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/>
              <a:t>Таблица (средние значения по всем запускам):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3D300D03-FAE9-469F-AD18-2A28EE1A930C}"/>
              </a:ext>
            </a:extLst>
          </p:cNvPr>
          <p:cNvCxnSpPr/>
          <p:nvPr/>
        </p:nvCxnSpPr>
        <p:spPr>
          <a:xfrm>
            <a:off x="5532895" y="898902"/>
            <a:ext cx="54244" cy="5476135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3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E74FE2-23F3-441A-AEE1-5A046E6AB7E0}"/>
              </a:ext>
            </a:extLst>
          </p:cNvPr>
          <p:cNvSpPr txBox="1"/>
          <p:nvPr/>
        </p:nvSpPr>
        <p:spPr>
          <a:xfrm>
            <a:off x="1431236" y="150865"/>
            <a:ext cx="8865704" cy="646331"/>
          </a:xfrm>
          <a:prstGeom prst="rect">
            <a:avLst/>
          </a:prstGeom>
          <a:solidFill>
            <a:srgbClr val="FFFFFF">
              <a:alpha val="1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</a:rPr>
              <a:t>Результаты и вывод</a:t>
            </a:r>
          </a:p>
        </p:txBody>
      </p:sp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8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C8E0DB-40B9-496C-97BA-ABF7B3D682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4BDC9F-85AF-4408-B2ED-AA440484F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4" y="2054289"/>
            <a:ext cx="11815540" cy="4006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ru-RU" sz="1900" dirty="0"/>
              <a:t>Выводы:</a:t>
            </a:r>
          </a:p>
          <a:p>
            <a:pPr algn="l">
              <a:buFont typeface="+mj-lt"/>
              <a:buAutoNum type="arabicPeriod"/>
            </a:pPr>
            <a:r>
              <a:rPr lang="ru-RU" sz="1900" dirty="0"/>
              <a:t>  </a:t>
            </a:r>
            <a:r>
              <a:rPr lang="ru-RU" sz="1900" dirty="0" err="1"/>
              <a:t>Многоагентная</a:t>
            </a:r>
            <a:r>
              <a:rPr lang="ru-RU" sz="1900" dirty="0"/>
              <a:t> схема работоспособна — все агенты завершились без таймаутов (успешность 100%).</a:t>
            </a:r>
          </a:p>
          <a:p>
            <a:pPr algn="l">
              <a:buFont typeface="+mj-lt"/>
              <a:buAutoNum type="arabicPeriod"/>
            </a:pPr>
            <a:r>
              <a:rPr lang="ru-RU" sz="1900" dirty="0"/>
              <a:t>  Время выполнения коррелирует с длиной </a:t>
            </a:r>
            <a:r>
              <a:rPr lang="ru-RU" sz="1900" dirty="0" err="1"/>
              <a:t>промпта</a:t>
            </a:r>
            <a:r>
              <a:rPr lang="ru-RU" sz="1900" dirty="0"/>
              <a:t> — </a:t>
            </a:r>
            <a:r>
              <a:rPr lang="ru-RU" sz="1900" dirty="0" err="1"/>
              <a:t>Translator</a:t>
            </a:r>
            <a:r>
              <a:rPr lang="ru-RU" sz="1900" dirty="0"/>
              <a:t> (короткий) ~13 сек, </a:t>
            </a:r>
            <a:r>
              <a:rPr lang="ru-RU" sz="1900" dirty="0" err="1"/>
              <a:t>Verifier</a:t>
            </a:r>
            <a:r>
              <a:rPr lang="ru-RU" sz="1900" dirty="0"/>
              <a:t> (длинный) ~68 сек.</a:t>
            </a:r>
          </a:p>
          <a:p>
            <a:pPr algn="l">
              <a:buFont typeface="+mj-lt"/>
              <a:buAutoNum type="arabicPeriod"/>
            </a:pPr>
            <a:r>
              <a:rPr lang="ru-RU" sz="1900" dirty="0"/>
              <a:t>  phi3:mini не пригодна для генерации конфигураций — модель выдумывает несуществующие команды Cisco IOS. Причина: малый размер модели (3.8B параметров) и отсутствие примеров в </a:t>
            </a:r>
            <a:r>
              <a:rPr lang="ru-RU" sz="1900" dirty="0" err="1"/>
              <a:t>промпте</a:t>
            </a:r>
            <a:r>
              <a:rPr lang="ru-RU" sz="1900" dirty="0"/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1900" dirty="0"/>
              <a:t>  LLM-верификатор не заменяет автоматический — Agent3 сам галлюцинирует и не даёт гарантий. Необходим внешний верификатор (</a:t>
            </a:r>
            <a:r>
              <a:rPr lang="ru-RU" sz="1900" dirty="0" err="1"/>
              <a:t>Batfish</a:t>
            </a:r>
            <a:r>
              <a:rPr lang="ru-RU" sz="1900" dirty="0"/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900" dirty="0"/>
              <a:t>  Ключевое ограничение — для промышленного применения требуется:</a:t>
            </a:r>
          </a:p>
          <a:p>
            <a:pPr algn="l"/>
            <a:r>
              <a:rPr lang="ru-RU" sz="1900" dirty="0"/>
              <a:t>  - более крупная модель (</a:t>
            </a:r>
            <a:r>
              <a:rPr lang="ru-RU" sz="1900" dirty="0" err="1"/>
              <a:t>LLaMA</a:t>
            </a:r>
            <a:r>
              <a:rPr lang="ru-RU" sz="1900" dirty="0"/>
              <a:t> 3, </a:t>
            </a:r>
            <a:r>
              <a:rPr lang="ru-RU" sz="1900" dirty="0" err="1"/>
              <a:t>Mistral</a:t>
            </a:r>
            <a:r>
              <a:rPr lang="ru-RU" sz="1900" dirty="0"/>
              <a:t>);</a:t>
            </a:r>
          </a:p>
          <a:p>
            <a:pPr algn="l"/>
            <a:r>
              <a:rPr lang="ru-RU" sz="1900" dirty="0"/>
              <a:t>  - дообучение на корпусе сетевых конфигураций;</a:t>
            </a:r>
          </a:p>
          <a:p>
            <a:pPr algn="l"/>
            <a:r>
              <a:rPr lang="ru-RU" sz="1900" dirty="0"/>
              <a:t>  - интеграция с </a:t>
            </a:r>
            <a:r>
              <a:rPr lang="ru-RU" sz="1900" dirty="0" err="1"/>
              <a:t>Batfish</a:t>
            </a:r>
            <a:r>
              <a:rPr lang="ru-RU" sz="1900" dirty="0"/>
              <a:t> для автоматической проверки.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76162FF-3D4E-AC7D-1045-099A0E40B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189164"/>
              </p:ext>
            </p:extLst>
          </p:nvPr>
        </p:nvGraphicFramePr>
        <p:xfrm>
          <a:off x="333657" y="775657"/>
          <a:ext cx="1155766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720">
                  <a:extLst>
                    <a:ext uri="{9D8B030D-6E8A-4147-A177-3AD203B41FA5}">
                      <a16:colId xmlns:a16="http://schemas.microsoft.com/office/drawing/2014/main" val="3554168434"/>
                    </a:ext>
                  </a:extLst>
                </a:gridCol>
                <a:gridCol w="2426582">
                  <a:extLst>
                    <a:ext uri="{9D8B030D-6E8A-4147-A177-3AD203B41FA5}">
                      <a16:colId xmlns:a16="http://schemas.microsoft.com/office/drawing/2014/main" val="1901703724"/>
                    </a:ext>
                  </a:extLst>
                </a:gridCol>
                <a:gridCol w="2125624">
                  <a:extLst>
                    <a:ext uri="{9D8B030D-6E8A-4147-A177-3AD203B41FA5}">
                      <a16:colId xmlns:a16="http://schemas.microsoft.com/office/drawing/2014/main" val="2696060185"/>
                    </a:ext>
                  </a:extLst>
                </a:gridCol>
                <a:gridCol w="2199193">
                  <a:extLst>
                    <a:ext uri="{9D8B030D-6E8A-4147-A177-3AD203B41FA5}">
                      <a16:colId xmlns:a16="http://schemas.microsoft.com/office/drawing/2014/main" val="3217258619"/>
                    </a:ext>
                  </a:extLst>
                </a:gridCol>
                <a:gridCol w="2661550">
                  <a:extLst>
                    <a:ext uri="{9D8B030D-6E8A-4147-A177-3AD203B41FA5}">
                      <a16:colId xmlns:a16="http://schemas.microsoft.com/office/drawing/2014/main" val="2880186158"/>
                    </a:ext>
                  </a:extLst>
                </a:gridCol>
              </a:tblGrid>
              <a:tr h="257014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rgbClr val="000000"/>
                          </a:solidFill>
                        </a:rPr>
                        <a:t>Агент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rgbClr val="000000"/>
                          </a:solidFill>
                        </a:rPr>
                        <a:t>Среднее время, сек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rgbClr val="000000"/>
                          </a:solidFill>
                        </a:rPr>
                        <a:t>Мин. Время, сек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rgbClr val="000000"/>
                          </a:solidFill>
                        </a:rPr>
                        <a:t>Макс. Время, сек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rgbClr val="000000"/>
                          </a:solidFill>
                        </a:rPr>
                        <a:t>Среднее кол. токенов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893136"/>
                  </a:ext>
                </a:extLst>
              </a:tr>
              <a:tr h="25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Agent1_Translator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13.03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9.57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18.90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335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83541"/>
                  </a:ext>
                </a:extLst>
              </a:tr>
              <a:tr h="25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Agent2_Writer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53.01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27.75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58.50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783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430735"/>
                  </a:ext>
                </a:extLst>
              </a:tr>
              <a:tr h="25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Agent3_Verifier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67.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62.00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71.61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1189</a:t>
                      </a:r>
                    </a:p>
                  </a:txBody>
                  <a:tcPr>
                    <a:solidFill>
                      <a:srgbClr val="8FAADC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176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301AC7-A4B7-6ED1-16B7-C0DD411F2114}"/>
              </a:ext>
            </a:extLst>
          </p:cNvPr>
          <p:cNvSpPr txBox="1"/>
          <p:nvPr/>
        </p:nvSpPr>
        <p:spPr>
          <a:xfrm>
            <a:off x="1518401" y="5999249"/>
            <a:ext cx="96054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Многоагентная</a:t>
            </a:r>
            <a:r>
              <a:rPr lang="ru-RU" sz="2000" b="1" dirty="0"/>
              <a:t> LLM-схема пригодна только как вспомогательный инструмент для черновой генерации. К промышленному применению не готова.</a:t>
            </a:r>
          </a:p>
        </p:txBody>
      </p:sp>
    </p:spTree>
    <p:extLst>
      <p:ext uri="{BB962C8B-B14F-4D97-AF65-F5344CB8AC3E}">
        <p14:creationId xmlns:p14="http://schemas.microsoft.com/office/powerpoint/2010/main" val="94974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9CDFF-57B0-4196-AD85-4ADFEF542F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  <a14:imgEffect>
                      <a14:sharpenSoften amount="-5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b="43336"/>
          <a:stretch/>
        </p:blipFill>
        <p:spPr>
          <a:xfrm>
            <a:off x="0" y="-19050"/>
            <a:ext cx="12192000" cy="6810375"/>
          </a:xfrm>
          <a:prstGeom prst="rect">
            <a:avLst/>
          </a:prstGeom>
        </p:spPr>
      </p:pic>
      <p:sp>
        <p:nvSpPr>
          <p:cNvPr id="26" name="Номер слайда 15">
            <a:extLst>
              <a:ext uri="{FF2B5EF4-FFF2-40B4-BE49-F238E27FC236}">
                <a16:creationId xmlns:a16="http://schemas.microsoft.com/office/drawing/2014/main" id="{DAA0CFDB-9FFC-4271-851D-DF5DAA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525" y="6197302"/>
            <a:ext cx="382845" cy="369331"/>
          </a:xfrm>
        </p:spPr>
        <p:txBody>
          <a:bodyPr/>
          <a:lstStyle/>
          <a:p>
            <a:pPr algn="ctr"/>
            <a:fld id="{70D7F68C-E0BA-42A2-A7A5-96B03D97FA95}" type="slidenum">
              <a:rPr lang="ru-RU" sz="2000" smtClean="0"/>
              <a:pPr algn="ctr"/>
              <a:t>9</a:t>
            </a:fld>
            <a:endParaRPr lang="ru-RU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4BDC9F-85AF-4408-B2ED-AA440484F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8035" y="379990"/>
            <a:ext cx="6495930" cy="88222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sz="4400" b="1" i="0" dirty="0">
                <a:effectLst/>
                <a:latin typeface="+mn-lt"/>
              </a:rPr>
              <a:t>Спасибо за внимание.</a:t>
            </a:r>
            <a:endParaRPr lang="ru-RU" altLang="ru-RU" sz="4000" dirty="0">
              <a:latin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14CAF4-69F4-4AAA-B1D0-0F2BABE421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>
            <a:off x="9144000" y="252521"/>
            <a:ext cx="3047999" cy="6183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F2E483-2A83-49B0-A4F6-51990C2BC418}"/>
              </a:ext>
            </a:extLst>
          </p:cNvPr>
          <p:cNvSpPr txBox="1"/>
          <p:nvPr/>
        </p:nvSpPr>
        <p:spPr>
          <a:xfrm>
            <a:off x="2040244" y="6076630"/>
            <a:ext cx="7911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г. 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Владимир 2026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A4B48F2-8001-4828-8EFA-96C8A9F35C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  <a14:imgEffect>
                      <a14:colorTemperature colorTemp="1500"/>
                    </a14:imgEffect>
                    <a14:imgEffect>
                      <a14:saturation sa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136"/>
          <a:stretch/>
        </p:blipFill>
        <p:spPr>
          <a:xfrm rot="10800000">
            <a:off x="0" y="-19050"/>
            <a:ext cx="2499832" cy="507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004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8006</TotalTime>
  <Words>1821</Words>
  <Application>Microsoft Office PowerPoint</Application>
  <PresentationFormat>Широкоэкранный</PresentationFormat>
  <Paragraphs>179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quote-cjk-patch</vt:lpstr>
      <vt:lpstr>Times New Roman</vt:lpstr>
      <vt:lpstr>Verdana</vt:lpstr>
      <vt:lpstr>Тема Office</vt:lpstr>
      <vt:lpstr>«Исследование применения больших языковых моделей для автоматической конфигурации сетей 5G/6G в парадигме Zero-Touch Management»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применения больших языковых моделей для автоматической конфигурации сетей 5G/6G в парадигме Zero-Touch Management</dc:title>
  <dc:creator>1</dc:creator>
  <cp:lastModifiedBy>katyanovskaya kiya</cp:lastModifiedBy>
  <cp:revision>58</cp:revision>
  <dcterms:created xsi:type="dcterms:W3CDTF">2026-07-23T11:41:41Z</dcterms:created>
  <dcterms:modified xsi:type="dcterms:W3CDTF">2026-09-11T08:52:40Z</dcterms:modified>
</cp:coreProperties>
</file>