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00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Нет стиля, нет сетки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Нет стиля, сетка таблицы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035" autoAdjust="0"/>
    <p:restoredTop sz="94660"/>
  </p:normalViewPr>
  <p:slideViewPr>
    <p:cSldViewPr snapToGrid="0">
      <p:cViewPr varScale="1">
        <p:scale>
          <a:sx n="67" d="100"/>
          <a:sy n="67" d="100"/>
        </p:scale>
        <p:origin x="640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D6180C2-B836-4932-ACC8-C29F86B3217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58FA674C-1F5D-4DC3-88B8-BF52652B7CE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B165A9F6-151F-427F-929E-4A512D1A86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D6B520-C8DA-4568-9F7F-F0242D4D1FDA}" type="datetimeFigureOut">
              <a:rPr lang="ru-RU" smtClean="0"/>
              <a:t>23.07.2026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3117A6EE-F0CB-4636-832E-4EE9129479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9D0E0233-7641-4F80-BF2C-806E9D58DC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45AC27-1FA1-4306-8670-A80C41DC56A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5827258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19A30F8-74CD-4BE1-BC68-A3E48B3711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29BB5D88-631D-4FB6-ACC5-1AB3E0C23F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6E90BCA8-6D0E-4FA9-BA5E-456DFAB437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D6B520-C8DA-4568-9F7F-F0242D4D1FDA}" type="datetimeFigureOut">
              <a:rPr lang="ru-RU" smtClean="0"/>
              <a:t>23.07.2026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36B7F073-7C52-4AD7-91C0-1027A0F691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DB2F66C2-DC02-4258-A757-C512255C14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45AC27-1FA1-4306-8670-A80C41DC56A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8514434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0CD0322-1D1D-4E7A-BB13-89398717F9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724D6ED3-D704-4C81-9309-54C72673CB1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4736694D-0D88-4234-BBFB-4409FAE10D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D6B520-C8DA-4568-9F7F-F0242D4D1FDA}" type="datetimeFigureOut">
              <a:rPr lang="ru-RU" smtClean="0"/>
              <a:t>23.07.2026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E3B78166-DF02-4BB4-A49F-17DCC87C76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EA2B42FD-A120-4E29-BF45-A225944703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45AC27-1FA1-4306-8670-A80C41DC56A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81692788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0783AC8-8E99-42FC-BE74-10795E9665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AE859758-E215-4149-A0A4-4A11C7DE913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71005CAF-15E3-4DF1-894C-9832A82A029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39002567-8D52-4934-98FA-BE5E634CEF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D6B520-C8DA-4568-9F7F-F0242D4D1FDA}" type="datetimeFigureOut">
              <a:rPr lang="ru-RU" smtClean="0"/>
              <a:t>23.07.2026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41CCB306-DC92-48A5-8D10-08D89DE34F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F56C2540-6E68-449A-9A56-521B39FB4E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45AC27-1FA1-4306-8670-A80C41DC56A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4805155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8C1EC4E-BB44-4C1D-ABA1-D53F9B4DEE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D1453DC9-FBC5-4C4D-A822-0F2ECC43633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2CEE88B0-DE22-4CAF-9A8A-072FB343872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9A4C9612-7BDD-4EF0-9624-49FA9685611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AE56138A-DCF1-4E0B-BE19-ACC12B08599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AE088C61-EBCA-4DBE-B741-C293778F1A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D6B520-C8DA-4568-9F7F-F0242D4D1FDA}" type="datetimeFigureOut">
              <a:rPr lang="ru-RU" smtClean="0"/>
              <a:t>23.07.2026</a:t>
            </a:fld>
            <a:endParaRPr lang="ru-RU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C609269E-B3DC-4DF2-AC50-A10D0325A5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59A17FC0-715E-41DC-8C7C-5A116850CD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45AC27-1FA1-4306-8670-A80C41DC56A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3174313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69285E0-ADD1-4D01-9972-598EF5E801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ED478E1D-CC8C-4041-B3F9-748E2F4FEF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D6B520-C8DA-4568-9F7F-F0242D4D1FDA}" type="datetimeFigureOut">
              <a:rPr lang="ru-RU" smtClean="0"/>
              <a:t>23.07.2026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6328E31B-FCDC-44E0-BD1D-CDA7E83CE8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BAC60791-BD83-412C-AB8C-692B3702BF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45AC27-1FA1-4306-8670-A80C41DC56A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3447811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5AD0D0B1-B979-4135-A1EE-EA6171A6AE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D6B520-C8DA-4568-9F7F-F0242D4D1FDA}" type="datetimeFigureOut">
              <a:rPr lang="ru-RU" smtClean="0"/>
              <a:t>23.07.2026</a:t>
            </a:fld>
            <a:endParaRPr lang="ru-RU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3FEB0636-CDBF-473C-9AAD-3FD8F98388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4CAA1E3E-4F1F-49CB-8BCD-2F2FA361F6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45AC27-1FA1-4306-8670-A80C41DC56A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0834573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4BF6FE1-C63E-4FBD-93C9-D76FFD478A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A2104B80-D6DE-40BC-948F-F424D8EE3A9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FF76A9D0-B4F3-417D-8691-045F5DFBF0C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76BAD5E9-7600-4A05-A173-D5DE1B8D78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D6B520-C8DA-4568-9F7F-F0242D4D1FDA}" type="datetimeFigureOut">
              <a:rPr lang="ru-RU" smtClean="0"/>
              <a:t>23.07.2026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DF89A790-C503-421C-AA84-9461AFCC4A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3BDA3AA8-9570-45BA-956D-CC80F355CB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45AC27-1FA1-4306-8670-A80C41DC56A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8188991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734843A-8CF8-4C13-9AFC-31B5957E45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018451F6-C0FE-4B1A-8357-6A555D90CC1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7F684940-D02C-4C12-B040-29E3963C57F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A4AD937D-C354-48E5-A53A-46304A66A8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D6B520-C8DA-4568-9F7F-F0242D4D1FDA}" type="datetimeFigureOut">
              <a:rPr lang="ru-RU" smtClean="0"/>
              <a:t>23.07.2026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F40333CF-A7C2-4C50-A6B4-C8A0A17805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20EAC2D2-120B-4994-BCE5-BC234A17A1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45AC27-1FA1-4306-8670-A80C41DC56A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2961592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269771F-86E3-4389-9B8C-4D65383A58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FA9EEC95-E434-42A2-A8AB-87A7809A3D6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ED0A14CB-BDBB-437F-98EF-03593ED52B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D6B520-C8DA-4568-9F7F-F0242D4D1FDA}" type="datetimeFigureOut">
              <a:rPr lang="ru-RU" smtClean="0"/>
              <a:t>23.07.2026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BD44A5B0-A8CB-48B3-863A-8EC5300E0A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A222E1B1-0857-4D2B-8039-849973C6C8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45AC27-1FA1-4306-8670-A80C41DC56A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83563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>
            <a:extLst>
              <a:ext uri="{FF2B5EF4-FFF2-40B4-BE49-F238E27FC236}">
                <a16:creationId xmlns:a16="http://schemas.microsoft.com/office/drawing/2014/main" id="{F4777AEF-1E39-4153-8F2C-7EBD6DA2A2B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3C6B0180-295A-47D5-9DE5-B610066FEC0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F6BEE95F-3D21-4DA1-9ECE-766C95BAD6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D6B520-C8DA-4568-9F7F-F0242D4D1FDA}" type="datetimeFigureOut">
              <a:rPr lang="ru-RU" smtClean="0"/>
              <a:t>23.07.2026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CD603533-3F7C-4EFF-AE68-864EF730CF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7497A991-508A-430A-B380-6CEAF928CD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45AC27-1FA1-4306-8670-A80C41DC56A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333282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113D6D1-503D-4FB3-AFD0-4DB39CC65D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030F4144-365D-4BEF-BF36-EBB2B988F6A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D04A233F-ECEF-4794-8E77-1E1D4AB6DBE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1D6B520-C8DA-4568-9F7F-F0242D4D1FDA}" type="datetimeFigureOut">
              <a:rPr lang="ru-RU" smtClean="0"/>
              <a:t>23.07.2026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EB345D70-F8EF-4565-AEB3-F901D95B385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8FDA9A92-4179-4036-9756-11A79059AB3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345AC27-1FA1-4306-8670-A80C41DC56A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343328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microsoft.com/office/2007/relationships/hdphoto" Target="../media/hdphoto2.wdp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microsoft.com/office/2007/relationships/hdphoto" Target="../media/hdphoto2.wdp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microsoft.com/office/2007/relationships/hdphoto" Target="../media/hdphoto2.wdp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microsoft.com/office/2007/relationships/hdphoto" Target="../media/hdphoto2.wdp"/><Relationship Id="rId4" Type="http://schemas.openxmlformats.org/officeDocument/2006/relationships/image" Target="../media/image4.png"/></Relationships>
</file>

<file path=ppt/slides/_rels/slide6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7" Type="http://schemas.microsoft.com/office/2007/relationships/hdphoto" Target="../media/hdphoto3.wdp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microsoft.com/office/2007/relationships/hdphoto" Target="../media/hdphoto2.wdp"/><Relationship Id="rId4" Type="http://schemas.openxmlformats.org/officeDocument/2006/relationships/image" Target="../media/image4.png"/></Relationships>
</file>

<file path=ppt/slides/_rels/slide7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microsoft.com/office/2007/relationships/hdphoto" Target="../media/hdphoto2.wdp"/><Relationship Id="rId4" Type="http://schemas.openxmlformats.org/officeDocument/2006/relationships/image" Target="../media/image4.png"/></Relationships>
</file>

<file path=ppt/slides/_rels/slide8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microsoft.com/office/2007/relationships/hdphoto" Target="../media/hdphoto2.wdp"/><Relationship Id="rId4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Рисунок 17">
            <a:extLst>
              <a:ext uri="{FF2B5EF4-FFF2-40B4-BE49-F238E27FC236}">
                <a16:creationId xmlns:a16="http://schemas.microsoft.com/office/drawing/2014/main" id="{84ECA598-1040-44F2-AE1A-6DF7ED14A7D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artisticGlass/>
                    </a14:imgEffect>
                    <a14:imgEffect>
                      <a14:sharpenSoften amount="-50000"/>
                    </a14:imgEffect>
                    <a14:imgEffect>
                      <a14:saturation sat="33000"/>
                    </a14:imgEffect>
                    <a14:imgEffect>
                      <a14:brightnessContrast bright="40000" contrast="4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0" y="-19050"/>
            <a:ext cx="12192000" cy="6875125"/>
          </a:xfrm>
          <a:prstGeom prst="rect">
            <a:avLst/>
          </a:prstGeom>
        </p:spPr>
      </p:pic>
      <p:sp>
        <p:nvSpPr>
          <p:cNvPr id="19" name="Заголовок 1">
            <a:extLst>
              <a:ext uri="{FF2B5EF4-FFF2-40B4-BE49-F238E27FC236}">
                <a16:creationId xmlns:a16="http://schemas.microsoft.com/office/drawing/2014/main" id="{DBB19E60-2F3A-477E-8DB3-FB6D5D06663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85848" y="2831156"/>
            <a:ext cx="10020300" cy="1375385"/>
          </a:xfrm>
        </p:spPr>
        <p:txBody>
          <a:bodyPr>
            <a:noAutofit/>
          </a:bodyPr>
          <a:lstStyle/>
          <a:p>
            <a:pPr indent="450215">
              <a:lnSpc>
                <a:spcPct val="100000"/>
              </a:lnSpc>
              <a:spcAft>
                <a:spcPts val="0"/>
              </a:spcAft>
            </a:pPr>
            <a:r>
              <a:rPr lang="ru-RU" sz="2800" b="1" dirty="0">
                <a:latin typeface="+mn-lt"/>
              </a:rPr>
              <a:t>«Исследование применения больших языковых моделей для автоматической конфигурации сетей 5G/6G в парадигме </a:t>
            </a:r>
            <a:r>
              <a:rPr lang="ru-RU" sz="2800" b="1" dirty="0" err="1">
                <a:latin typeface="+mn-lt"/>
              </a:rPr>
              <a:t>Zero-Touch</a:t>
            </a:r>
            <a:r>
              <a:rPr lang="ru-RU" sz="2800" b="1" dirty="0">
                <a:latin typeface="+mn-lt"/>
              </a:rPr>
              <a:t> </a:t>
            </a:r>
            <a:r>
              <a:rPr lang="ru-RU" sz="2800" b="1" dirty="0" err="1">
                <a:latin typeface="+mn-lt"/>
              </a:rPr>
              <a:t>Management</a:t>
            </a:r>
            <a:r>
              <a:rPr lang="ru-RU" sz="2800" b="1" dirty="0">
                <a:latin typeface="+mn-lt"/>
              </a:rPr>
              <a:t>»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82E74FE2-23F3-441A-AEE1-5A046E6AB7E0}"/>
              </a:ext>
            </a:extLst>
          </p:cNvPr>
          <p:cNvSpPr txBox="1"/>
          <p:nvPr/>
        </p:nvSpPr>
        <p:spPr>
          <a:xfrm>
            <a:off x="-1" y="1925"/>
            <a:ext cx="12192001" cy="2246769"/>
          </a:xfrm>
          <a:prstGeom prst="rect">
            <a:avLst/>
          </a:prstGeom>
          <a:solidFill>
            <a:srgbClr val="FFFFFF">
              <a:alpha val="10196"/>
            </a:srgbClr>
          </a:solidFill>
        </p:spPr>
        <p:txBody>
          <a:bodyPr wrap="square">
            <a:spAutoFit/>
          </a:bodyPr>
          <a:lstStyle/>
          <a:p>
            <a:pPr algn="ctr"/>
            <a:r>
              <a:rPr lang="ru-RU" sz="2000" dirty="0">
                <a:ln w="3175">
                  <a:noFill/>
                </a:ln>
                <a:ea typeface="Verdana" panose="020B0604030504040204" pitchFamily="34" charset="0"/>
                <a:cs typeface="Times New Roman" panose="02020603050405020304" pitchFamily="18" charset="0"/>
              </a:rPr>
              <a:t>Министерство образования и науки Российской Федерации</a:t>
            </a:r>
          </a:p>
          <a:p>
            <a:pPr algn="ctr"/>
            <a:r>
              <a:rPr lang="ru-RU" sz="2000" dirty="0">
                <a:ln w="3175">
                  <a:noFill/>
                </a:ln>
                <a:ea typeface="Verdana" panose="020B0604030504040204" pitchFamily="34" charset="0"/>
                <a:cs typeface="Times New Roman" panose="02020603050405020304" pitchFamily="18" charset="0"/>
              </a:rPr>
              <a:t>Федеральное государственное бюджетное образовательное учреждение высшего образования</a:t>
            </a:r>
            <a:br>
              <a:rPr lang="ru-RU" sz="2000" dirty="0">
                <a:ln w="3175">
                  <a:noFill/>
                </a:ln>
                <a:ea typeface="Verdana" panose="020B0604030504040204" pitchFamily="34" charset="0"/>
                <a:cs typeface="Times New Roman" panose="02020603050405020304" pitchFamily="18" charset="0"/>
              </a:rPr>
            </a:br>
            <a:r>
              <a:rPr lang="ru-RU" sz="2000" b="1" dirty="0">
                <a:ln w="3175">
                  <a:noFill/>
                </a:ln>
                <a:ea typeface="Verdana" panose="020B0604030504040204" pitchFamily="34" charset="0"/>
                <a:cs typeface="Times New Roman" panose="02020603050405020304" pitchFamily="18" charset="0"/>
              </a:rPr>
              <a:t>«Владимирский государственный университет </a:t>
            </a:r>
            <a:br>
              <a:rPr lang="ru-RU" sz="2000" b="1" dirty="0">
                <a:ln w="3175">
                  <a:noFill/>
                </a:ln>
                <a:ea typeface="Verdana" panose="020B0604030504040204" pitchFamily="34" charset="0"/>
                <a:cs typeface="Times New Roman" panose="02020603050405020304" pitchFamily="18" charset="0"/>
              </a:rPr>
            </a:br>
            <a:r>
              <a:rPr lang="ru-RU" sz="2000" b="1" dirty="0">
                <a:ln w="3175">
                  <a:noFill/>
                </a:ln>
                <a:ea typeface="Verdana" panose="020B0604030504040204" pitchFamily="34" charset="0"/>
                <a:cs typeface="Times New Roman" panose="02020603050405020304" pitchFamily="18" charset="0"/>
              </a:rPr>
              <a:t>имени Александра Григорьевича и Николая Григорьевича Столетовых»</a:t>
            </a:r>
            <a:br>
              <a:rPr lang="ru-RU" sz="2000" b="1" dirty="0">
                <a:ln w="3175">
                  <a:noFill/>
                </a:ln>
                <a:ea typeface="Verdana" panose="020B0604030504040204" pitchFamily="34" charset="0"/>
                <a:cs typeface="Times New Roman" panose="02020603050405020304" pitchFamily="18" charset="0"/>
              </a:rPr>
            </a:br>
            <a:r>
              <a:rPr lang="ru-RU" sz="2000" b="1" dirty="0">
                <a:ln w="3175">
                  <a:noFill/>
                </a:ln>
                <a:ea typeface="Verdana" panose="020B0604030504040204" pitchFamily="34" charset="0"/>
                <a:cs typeface="Times New Roman" panose="02020603050405020304" pitchFamily="18" charset="0"/>
              </a:rPr>
              <a:t>(ВлГУ)</a:t>
            </a:r>
            <a:br>
              <a:rPr lang="ru-RU" sz="2000" dirty="0">
                <a:ln w="3175">
                  <a:noFill/>
                </a:ln>
                <a:ea typeface="Verdana" panose="020B0604030504040204" pitchFamily="34" charset="0"/>
                <a:cs typeface="Times New Roman" panose="02020603050405020304" pitchFamily="18" charset="0"/>
              </a:rPr>
            </a:br>
            <a:r>
              <a:rPr lang="ru-RU" sz="2000" dirty="0">
                <a:ln w="3175">
                  <a:noFill/>
                </a:ln>
                <a:ea typeface="Verdana" panose="020B0604030504040204" pitchFamily="34" charset="0"/>
                <a:cs typeface="Times New Roman" panose="02020603050405020304" pitchFamily="18" charset="0"/>
              </a:rPr>
              <a:t>Институт информационных технологий и радиоэлектроники</a:t>
            </a:r>
            <a:br>
              <a:rPr lang="ru-RU" sz="2000" dirty="0">
                <a:ln w="3175">
                  <a:noFill/>
                </a:ln>
                <a:ea typeface="Verdana" panose="020B0604030504040204" pitchFamily="34" charset="0"/>
                <a:cs typeface="Times New Roman" panose="02020603050405020304" pitchFamily="18" charset="0"/>
              </a:rPr>
            </a:br>
            <a:r>
              <a:rPr lang="ru-RU" sz="2000" b="1" dirty="0">
                <a:ln w="3175">
                  <a:noFill/>
                </a:ln>
                <a:ea typeface="Verdana" panose="020B0604030504040204" pitchFamily="34" charset="0"/>
                <a:cs typeface="Times New Roman" panose="02020603050405020304" pitchFamily="18" charset="0"/>
              </a:rPr>
              <a:t>Кафедра информатики и защиты информации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42E0D47-5419-471D-9B4A-DFF63EAFFF7E}"/>
              </a:ext>
            </a:extLst>
          </p:cNvPr>
          <p:cNvSpPr txBox="1"/>
          <p:nvPr/>
        </p:nvSpPr>
        <p:spPr>
          <a:xfrm>
            <a:off x="733425" y="2492354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800" dirty="0">
                <a:ea typeface="Verdana" panose="020B0604030504040204" pitchFamily="34" charset="0"/>
                <a:cs typeface="Times New Roman" panose="02020603050405020304" pitchFamily="18" charset="0"/>
              </a:rPr>
              <a:t>Презентация практической работы на тему: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10D93D96-DFBF-4515-A495-39554E96B8C4}"/>
              </a:ext>
            </a:extLst>
          </p:cNvPr>
          <p:cNvSpPr txBox="1"/>
          <p:nvPr/>
        </p:nvSpPr>
        <p:spPr>
          <a:xfrm>
            <a:off x="4595811" y="6381967"/>
            <a:ext cx="300037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dirty="0">
                <a:ea typeface="Times New Roman" panose="02020603050405020304" pitchFamily="18" charset="0"/>
                <a:cs typeface="Times New Roman" panose="02020603050405020304" pitchFamily="18" charset="0"/>
              </a:rPr>
              <a:t>г. </a:t>
            </a:r>
            <a:r>
              <a:rPr lang="ru-RU" sz="1800" dirty="0">
                <a:effectLst/>
                <a:ea typeface="Times New Roman" panose="02020603050405020304" pitchFamily="18" charset="0"/>
                <a:cs typeface="Times New Roman" panose="02020603050405020304" pitchFamily="18" charset="0"/>
              </a:rPr>
              <a:t>Владимир 2026</a:t>
            </a:r>
            <a:endParaRPr lang="ru-RU" dirty="0"/>
          </a:p>
        </p:txBody>
      </p:sp>
      <p:pic>
        <p:nvPicPr>
          <p:cNvPr id="23" name="Picture 4">
            <a:extLst>
              <a:ext uri="{FF2B5EF4-FFF2-40B4-BE49-F238E27FC236}">
                <a16:creationId xmlns:a16="http://schemas.microsoft.com/office/drawing/2014/main" id="{27D7D665-17F7-45CA-A2D3-82555FC3372B}"/>
              </a:ext>
            </a:extLst>
          </p:cNvPr>
          <p:cNvPicPr/>
          <p:nvPr/>
        </p:nvPicPr>
        <p:blipFill>
          <a:blip r:embed="rId4" cstate="print"/>
          <a:stretch/>
        </p:blipFill>
        <p:spPr>
          <a:xfrm>
            <a:off x="629835" y="5324341"/>
            <a:ext cx="1101333" cy="1057492"/>
          </a:xfrm>
          <a:prstGeom prst="rect">
            <a:avLst/>
          </a:prstGeom>
          <a:ln w="0">
            <a:noFill/>
          </a:ln>
        </p:spPr>
      </p:pic>
      <p:pic>
        <p:nvPicPr>
          <p:cNvPr id="24" name="Picture 12">
            <a:extLst>
              <a:ext uri="{FF2B5EF4-FFF2-40B4-BE49-F238E27FC236}">
                <a16:creationId xmlns:a16="http://schemas.microsoft.com/office/drawing/2014/main" id="{B97743D9-6C69-4B18-B70A-AEA5AA7A271B}"/>
              </a:ext>
            </a:extLst>
          </p:cNvPr>
          <p:cNvPicPr/>
          <p:nvPr/>
        </p:nvPicPr>
        <p:blipFill>
          <a:blip r:embed="rId5" cstate="print"/>
          <a:stretch/>
        </p:blipFill>
        <p:spPr>
          <a:xfrm>
            <a:off x="2361003" y="5780598"/>
            <a:ext cx="1238100" cy="546834"/>
          </a:xfrm>
          <a:prstGeom prst="rect">
            <a:avLst/>
          </a:prstGeom>
          <a:ln w="0">
            <a:noFill/>
          </a:ln>
        </p:spPr>
      </p:pic>
      <p:sp>
        <p:nvSpPr>
          <p:cNvPr id="25" name="TextBox 24">
            <a:extLst>
              <a:ext uri="{FF2B5EF4-FFF2-40B4-BE49-F238E27FC236}">
                <a16:creationId xmlns:a16="http://schemas.microsoft.com/office/drawing/2014/main" id="{5AD0941B-DE01-474D-A6F3-55C31328BCE8}"/>
              </a:ext>
            </a:extLst>
          </p:cNvPr>
          <p:cNvSpPr txBox="1"/>
          <p:nvPr/>
        </p:nvSpPr>
        <p:spPr>
          <a:xfrm>
            <a:off x="10172700" y="5407684"/>
            <a:ext cx="177165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ru-RU" b="1" dirty="0"/>
              <a:t>Руководитель: </a:t>
            </a:r>
          </a:p>
          <a:p>
            <a:pPr algn="r"/>
            <a:r>
              <a:rPr lang="ru-RU" dirty="0"/>
              <a:t>Монахов Ю.М.</a:t>
            </a:r>
          </a:p>
        </p:txBody>
      </p:sp>
      <p:sp>
        <p:nvSpPr>
          <p:cNvPr id="26" name="Номер слайда 15">
            <a:extLst>
              <a:ext uri="{FF2B5EF4-FFF2-40B4-BE49-F238E27FC236}">
                <a16:creationId xmlns:a16="http://schemas.microsoft.com/office/drawing/2014/main" id="{DAA0CFDB-9FFC-4271-851D-DF5DAAFE2D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058525" y="6197302"/>
            <a:ext cx="382845" cy="369331"/>
          </a:xfrm>
        </p:spPr>
        <p:txBody>
          <a:bodyPr/>
          <a:lstStyle/>
          <a:p>
            <a:pPr algn="ctr"/>
            <a:fld id="{70D7F68C-E0BA-42A2-A7A5-96B03D97FA95}" type="slidenum">
              <a:rPr lang="ru-RU" sz="2000" smtClean="0"/>
              <a:pPr algn="ctr"/>
              <a:t>1</a:t>
            </a:fld>
            <a:endParaRPr lang="ru-RU" sz="2000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CF6A63A5-8133-490F-966E-62D74FB9A2DA}"/>
              </a:ext>
            </a:extLst>
          </p:cNvPr>
          <p:cNvSpPr txBox="1"/>
          <p:nvPr/>
        </p:nvSpPr>
        <p:spPr>
          <a:xfrm>
            <a:off x="7962900" y="4444391"/>
            <a:ext cx="398145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450215" algn="r">
              <a:lnSpc>
                <a:spcPct val="100000"/>
              </a:lnSpc>
              <a:spcAft>
                <a:spcPts val="0"/>
              </a:spcAft>
            </a:pPr>
            <a:r>
              <a:rPr lang="ru-RU" sz="1800" b="1" dirty="0">
                <a:effectLst/>
                <a:ea typeface="Times New Roman" panose="02020603050405020304" pitchFamily="18" charset="0"/>
                <a:cs typeface="Times New Roman" panose="02020603050405020304" pitchFamily="18" charset="0"/>
              </a:rPr>
              <a:t>Выполнила:</a:t>
            </a:r>
          </a:p>
          <a:p>
            <a:pPr indent="450215" algn="r">
              <a:lnSpc>
                <a:spcPct val="100000"/>
              </a:lnSpc>
              <a:spcAft>
                <a:spcPts val="0"/>
              </a:spcAft>
            </a:pPr>
            <a:r>
              <a:rPr lang="ru-RU" dirty="0">
                <a:ea typeface="Times New Roman" panose="02020603050405020304" pitchFamily="18" charset="0"/>
                <a:cs typeface="Times New Roman" panose="02020603050405020304" pitchFamily="18" charset="0"/>
              </a:rPr>
              <a:t>Студентка группы ИСБ-124</a:t>
            </a:r>
            <a:endParaRPr lang="ru-RU" sz="1800" dirty="0">
              <a:effectLst/>
              <a:ea typeface="Times New Roman" panose="02020603050405020304" pitchFamily="18" charset="0"/>
              <a:cs typeface="Times New Roman" panose="02020603050405020304" pitchFamily="18" charset="0"/>
            </a:endParaRPr>
          </a:p>
          <a:p>
            <a:pPr indent="450215" algn="r">
              <a:lnSpc>
                <a:spcPct val="100000"/>
              </a:lnSpc>
              <a:spcAft>
                <a:spcPts val="0"/>
              </a:spcAft>
            </a:pPr>
            <a:r>
              <a:rPr lang="ru-RU" sz="1800" dirty="0">
                <a:effectLst/>
                <a:ea typeface="Times New Roman" panose="02020603050405020304" pitchFamily="18" charset="0"/>
                <a:cs typeface="Times New Roman" panose="02020603050405020304" pitchFamily="18" charset="0"/>
              </a:rPr>
              <a:t>Кияновская Екатерина Денисовна</a:t>
            </a:r>
          </a:p>
        </p:txBody>
      </p:sp>
    </p:spTree>
    <p:extLst>
      <p:ext uri="{BB962C8B-B14F-4D97-AF65-F5344CB8AC3E}">
        <p14:creationId xmlns:p14="http://schemas.microsoft.com/office/powerpoint/2010/main" val="426184994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Рисунок 17">
            <a:extLst>
              <a:ext uri="{FF2B5EF4-FFF2-40B4-BE49-F238E27FC236}">
                <a16:creationId xmlns:a16="http://schemas.microsoft.com/office/drawing/2014/main" id="{84ECA598-1040-44F2-AE1A-6DF7ED14A7D4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artisticGlass/>
                    </a14:imgEffect>
                    <a14:imgEffect>
                      <a14:sharpenSoften amount="-50000"/>
                    </a14:imgEffect>
                    <a14:imgEffect>
                      <a14:saturation sat="33000"/>
                    </a14:imgEffect>
                    <a14:imgEffect>
                      <a14:brightnessContrast bright="40000" contrast="40000"/>
                    </a14:imgEffect>
                  </a14:imgLayer>
                </a14:imgProps>
              </a:ext>
            </a:extLst>
          </a:blip>
          <a:srcRect b="43336"/>
          <a:stretch/>
        </p:blipFill>
        <p:spPr>
          <a:xfrm>
            <a:off x="0" y="-19050"/>
            <a:ext cx="12192000" cy="6810375"/>
          </a:xfrm>
          <a:prstGeom prst="rect">
            <a:avLst/>
          </a:prstGeom>
        </p:spPr>
      </p:pic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F5949244-06CC-4549-B44D-B1098EBFC30F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lum bright="70000" contrast="-70000"/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artisticCrisscrossEtching/>
                    </a14:imgEffect>
                    <a14:imgEffect>
                      <a14:colorTemperature colorTemp="1500"/>
                    </a14:imgEffect>
                    <a14:imgEffect>
                      <a14:saturation sat="24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r="50136"/>
          <a:stretch/>
        </p:blipFill>
        <p:spPr>
          <a:xfrm>
            <a:off x="9144000" y="252521"/>
            <a:ext cx="3047999" cy="6183480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82E74FE2-23F3-441A-AEE1-5A046E6AB7E0}"/>
              </a:ext>
            </a:extLst>
          </p:cNvPr>
          <p:cNvSpPr txBox="1"/>
          <p:nvPr/>
        </p:nvSpPr>
        <p:spPr>
          <a:xfrm>
            <a:off x="3078232" y="147746"/>
            <a:ext cx="5119067" cy="646331"/>
          </a:xfrm>
          <a:prstGeom prst="rect">
            <a:avLst/>
          </a:prstGeom>
          <a:solidFill>
            <a:srgbClr val="FFFFFF">
              <a:alpha val="10196"/>
            </a:srgbClr>
          </a:solidFill>
        </p:spPr>
        <p:txBody>
          <a:bodyPr wrap="square">
            <a:spAutoFit/>
          </a:bodyPr>
          <a:lstStyle/>
          <a:p>
            <a:pPr algn="ctr"/>
            <a:r>
              <a:rPr lang="ru-RU" sz="3600" b="1" dirty="0">
                <a:effectLst/>
              </a:rPr>
              <a:t>Актуальность темы</a:t>
            </a:r>
          </a:p>
        </p:txBody>
      </p:sp>
      <p:sp>
        <p:nvSpPr>
          <p:cNvPr id="26" name="Номер слайда 15">
            <a:extLst>
              <a:ext uri="{FF2B5EF4-FFF2-40B4-BE49-F238E27FC236}">
                <a16:creationId xmlns:a16="http://schemas.microsoft.com/office/drawing/2014/main" id="{DAA0CFDB-9FFC-4271-851D-DF5DAAFE2D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058525" y="6197302"/>
            <a:ext cx="382845" cy="369331"/>
          </a:xfrm>
        </p:spPr>
        <p:txBody>
          <a:bodyPr/>
          <a:lstStyle/>
          <a:p>
            <a:pPr algn="ctr"/>
            <a:fld id="{70D7F68C-E0BA-42A2-A7A5-96B03D97FA95}" type="slidenum">
              <a:rPr lang="ru-RU" sz="2000" smtClean="0"/>
              <a:pPr algn="ctr"/>
              <a:t>2</a:t>
            </a:fld>
            <a:endParaRPr lang="ru-RU" sz="2000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BB65468-7043-4DCC-BB4E-3F74002A16A2}"/>
              </a:ext>
            </a:extLst>
          </p:cNvPr>
          <p:cNvSpPr txBox="1"/>
          <p:nvPr/>
        </p:nvSpPr>
        <p:spPr>
          <a:xfrm>
            <a:off x="433387" y="851030"/>
            <a:ext cx="11325225" cy="56323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ru-RU" sz="2400" b="1" i="0" dirty="0" err="1">
                <a:effectLst/>
              </a:rPr>
              <a:t>Zero-Touch</a:t>
            </a:r>
            <a:r>
              <a:rPr lang="ru-RU" sz="2400" b="1" i="0" dirty="0">
                <a:effectLst/>
              </a:rPr>
              <a:t> управление сетями 5G/6G: почему это сложно?</a:t>
            </a:r>
            <a:endParaRPr lang="ru-RU" sz="2400" b="0" i="0" dirty="0">
              <a:effectLst/>
            </a:endParaRPr>
          </a:p>
          <a:p>
            <a:pPr algn="l"/>
            <a:r>
              <a:rPr lang="ru-RU" sz="2400" b="0" i="0" dirty="0">
                <a:effectLst/>
              </a:rPr>
              <a:t>Сети 5G/6G — это не просто «передача данных», а сложная распределённая платформа: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ru-RU" sz="2400" b="0" i="0" dirty="0">
                <a:effectLst/>
              </a:rPr>
              <a:t>сетевые срезы (</a:t>
            </a:r>
            <a:r>
              <a:rPr lang="ru-RU" sz="2400" b="0" i="0" dirty="0" err="1">
                <a:effectLst/>
              </a:rPr>
              <a:t>network</a:t>
            </a:r>
            <a:r>
              <a:rPr lang="ru-RU" sz="2400" b="0" i="0" dirty="0">
                <a:effectLst/>
              </a:rPr>
              <a:t> </a:t>
            </a:r>
            <a:r>
              <a:rPr lang="ru-RU" sz="2400" b="0" i="0" dirty="0" err="1">
                <a:effectLst/>
              </a:rPr>
              <a:t>slicing</a:t>
            </a:r>
            <a:r>
              <a:rPr lang="ru-RU" sz="2400" b="0" i="0" dirty="0">
                <a:effectLst/>
              </a:rPr>
              <a:t>);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ru-RU" sz="2400" b="0" i="0" dirty="0">
                <a:effectLst/>
              </a:rPr>
              <a:t>облачные функции ядра и </a:t>
            </a:r>
            <a:r>
              <a:rPr lang="ru-RU" sz="2400" b="0" i="0" dirty="0" err="1">
                <a:effectLst/>
              </a:rPr>
              <a:t>Open</a:t>
            </a:r>
            <a:r>
              <a:rPr lang="ru-RU" sz="2400" b="0" i="0" dirty="0">
                <a:effectLst/>
              </a:rPr>
              <a:t> RAN;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ru-RU" sz="2400" b="0" i="0" dirty="0">
                <a:effectLst/>
              </a:rPr>
              <a:t>миллионы </a:t>
            </a:r>
            <a:r>
              <a:rPr lang="ru-RU" sz="2400" b="0" i="0" dirty="0" err="1">
                <a:effectLst/>
              </a:rPr>
              <a:t>IoT</a:t>
            </a:r>
            <a:r>
              <a:rPr lang="ru-RU" sz="2400" b="0" i="0" dirty="0">
                <a:effectLst/>
              </a:rPr>
              <a:t>-устройств;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ru-RU" sz="2400" b="0" i="0" dirty="0">
                <a:effectLst/>
              </a:rPr>
              <a:t>требования к задержке &lt; 1 </a:t>
            </a:r>
            <a:r>
              <a:rPr lang="ru-RU" sz="2400" b="0" i="0" dirty="0" err="1">
                <a:effectLst/>
              </a:rPr>
              <a:t>мс</a:t>
            </a:r>
            <a:r>
              <a:rPr lang="ru-RU" sz="2400" b="0" i="0" dirty="0">
                <a:effectLst/>
              </a:rPr>
              <a:t> (URLLC).</a:t>
            </a:r>
          </a:p>
          <a:p>
            <a:pPr algn="l"/>
            <a:r>
              <a:rPr lang="ru-RU" sz="2400" b="0" i="0" dirty="0">
                <a:effectLst/>
              </a:rPr>
              <a:t>Ручное управление такой инфраструктурой: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ru-RU" sz="2400" b="1" i="0" dirty="0">
                <a:effectLst/>
              </a:rPr>
              <a:t>медленно</a:t>
            </a:r>
            <a:r>
              <a:rPr lang="ru-RU" sz="2400" b="0" i="0" dirty="0">
                <a:effectLst/>
              </a:rPr>
              <a:t> (реакция — минуты/часы);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ru-RU" sz="2400" b="1" i="0" dirty="0">
                <a:effectLst/>
              </a:rPr>
              <a:t>дорого</a:t>
            </a:r>
            <a:r>
              <a:rPr lang="ru-RU" sz="2400" b="0" i="0" dirty="0">
                <a:effectLst/>
              </a:rPr>
              <a:t> (высококвалифицированные инженеры);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ru-RU" sz="2400" b="1" i="0" dirty="0">
                <a:effectLst/>
              </a:rPr>
              <a:t>опасно</a:t>
            </a:r>
            <a:r>
              <a:rPr lang="ru-RU" sz="2400" b="0" i="0" dirty="0">
                <a:effectLst/>
              </a:rPr>
              <a:t> (человеческий фактор, ошибки в CLI).</a:t>
            </a:r>
          </a:p>
          <a:p>
            <a:pPr algn="l"/>
            <a:r>
              <a:rPr lang="ru-RU" sz="2400" b="0" i="0" dirty="0">
                <a:effectLst/>
              </a:rPr>
              <a:t>Решение — </a:t>
            </a:r>
            <a:r>
              <a:rPr lang="ru-RU" sz="2400" b="1" i="0" dirty="0" err="1">
                <a:effectLst/>
              </a:rPr>
              <a:t>Zero-Touch</a:t>
            </a:r>
            <a:r>
              <a:rPr lang="ru-RU" sz="2400" b="1" i="0" dirty="0">
                <a:effectLst/>
              </a:rPr>
              <a:t> </a:t>
            </a:r>
            <a:r>
              <a:rPr lang="ru-RU" sz="2400" b="1" i="0" dirty="0" err="1">
                <a:effectLst/>
              </a:rPr>
              <a:t>Network</a:t>
            </a:r>
            <a:r>
              <a:rPr lang="ru-RU" sz="2400" b="1" i="0" dirty="0">
                <a:effectLst/>
              </a:rPr>
              <a:t> &amp; </a:t>
            </a:r>
            <a:r>
              <a:rPr lang="ru-RU" sz="2400" b="1" i="0" dirty="0" err="1">
                <a:effectLst/>
              </a:rPr>
              <a:t>Service</a:t>
            </a:r>
            <a:r>
              <a:rPr lang="ru-RU" sz="2400" b="1" i="0" dirty="0">
                <a:effectLst/>
              </a:rPr>
              <a:t> </a:t>
            </a:r>
            <a:r>
              <a:rPr lang="ru-RU" sz="2400" b="1" i="0" dirty="0" err="1">
                <a:effectLst/>
              </a:rPr>
              <a:t>Management</a:t>
            </a:r>
            <a:r>
              <a:rPr lang="ru-RU" sz="2400" b="1" i="0" dirty="0">
                <a:effectLst/>
              </a:rPr>
              <a:t> (ZSM)</a:t>
            </a:r>
            <a:r>
              <a:rPr lang="ru-RU" sz="2400" b="0" i="0" dirty="0">
                <a:effectLst/>
              </a:rPr>
              <a:t>: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ru-RU" sz="2400" b="0" i="0" dirty="0">
                <a:effectLst/>
              </a:rPr>
              <a:t>человек задаёт </a:t>
            </a:r>
            <a:r>
              <a:rPr lang="ru-RU" sz="2400" b="1" i="0" dirty="0">
                <a:effectLst/>
              </a:rPr>
              <a:t>намерение (</a:t>
            </a:r>
            <a:r>
              <a:rPr lang="ru-RU" sz="2400" b="1" i="0" dirty="0" err="1">
                <a:effectLst/>
              </a:rPr>
              <a:t>intent</a:t>
            </a:r>
            <a:r>
              <a:rPr lang="ru-RU" sz="2400" b="1" i="0" dirty="0">
                <a:effectLst/>
              </a:rPr>
              <a:t>)</a:t>
            </a:r>
            <a:r>
              <a:rPr lang="ru-RU" sz="2400" b="0" i="0" dirty="0">
                <a:effectLst/>
              </a:rPr>
              <a:t>;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ru-RU" sz="2400" b="0" i="0" dirty="0">
                <a:effectLst/>
              </a:rPr>
              <a:t>система сама собирает телеметрию, анализирует, планирует, исполняет и проверяет.</a:t>
            </a:r>
          </a:p>
        </p:txBody>
      </p:sp>
    </p:spTree>
    <p:extLst>
      <p:ext uri="{BB962C8B-B14F-4D97-AF65-F5344CB8AC3E}">
        <p14:creationId xmlns:p14="http://schemas.microsoft.com/office/powerpoint/2010/main" val="146408203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1079CDFF-57B0-4196-AD85-4ADFEF542FAF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artisticGlass/>
                    </a14:imgEffect>
                    <a14:imgEffect>
                      <a14:sharpenSoften amount="-50000"/>
                    </a14:imgEffect>
                    <a14:imgEffect>
                      <a14:saturation sat="33000"/>
                    </a14:imgEffect>
                    <a14:imgEffect>
                      <a14:brightnessContrast bright="40000" contrast="40000"/>
                    </a14:imgEffect>
                  </a14:imgLayer>
                </a14:imgProps>
              </a:ext>
            </a:extLst>
          </a:blip>
          <a:srcRect b="43336"/>
          <a:stretch/>
        </p:blipFill>
        <p:spPr>
          <a:xfrm>
            <a:off x="0" y="-19050"/>
            <a:ext cx="12192000" cy="6810375"/>
          </a:xfrm>
          <a:prstGeom prst="rect">
            <a:avLst/>
          </a:prstGeom>
        </p:spPr>
      </p:pic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C1B7DB89-1338-4C87-B08A-0D5BF081D81A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lum bright="70000" contrast="-70000"/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artisticCrisscrossEtching/>
                    </a14:imgEffect>
                    <a14:imgEffect>
                      <a14:colorTemperature colorTemp="1500"/>
                    </a14:imgEffect>
                    <a14:imgEffect>
                      <a14:saturation sat="24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r="50136"/>
          <a:stretch/>
        </p:blipFill>
        <p:spPr>
          <a:xfrm>
            <a:off x="9144000" y="252521"/>
            <a:ext cx="3047999" cy="6183480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82E74FE2-23F3-441A-AEE1-5A046E6AB7E0}"/>
              </a:ext>
            </a:extLst>
          </p:cNvPr>
          <p:cNvSpPr txBox="1"/>
          <p:nvPr/>
        </p:nvSpPr>
        <p:spPr>
          <a:xfrm>
            <a:off x="1431236" y="147746"/>
            <a:ext cx="8865704" cy="646331"/>
          </a:xfrm>
          <a:prstGeom prst="rect">
            <a:avLst/>
          </a:prstGeom>
          <a:solidFill>
            <a:srgbClr val="FFFFFF">
              <a:alpha val="10196"/>
            </a:srgbClr>
          </a:solidFill>
        </p:spPr>
        <p:txBody>
          <a:bodyPr wrap="square">
            <a:spAutoFit/>
          </a:bodyPr>
          <a:lstStyle/>
          <a:p>
            <a:pPr algn="ctr"/>
            <a:r>
              <a:rPr lang="ru-RU" sz="3600" b="1" dirty="0">
                <a:effectLst/>
              </a:rPr>
              <a:t>Проблемы безопасности и приватности</a:t>
            </a:r>
          </a:p>
        </p:txBody>
      </p:sp>
      <p:sp>
        <p:nvSpPr>
          <p:cNvPr id="26" name="Номер слайда 15">
            <a:extLst>
              <a:ext uri="{FF2B5EF4-FFF2-40B4-BE49-F238E27FC236}">
                <a16:creationId xmlns:a16="http://schemas.microsoft.com/office/drawing/2014/main" id="{DAA0CFDB-9FFC-4271-851D-DF5DAAFE2D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058525" y="6197302"/>
            <a:ext cx="382845" cy="369331"/>
          </a:xfrm>
        </p:spPr>
        <p:txBody>
          <a:bodyPr/>
          <a:lstStyle/>
          <a:p>
            <a:pPr algn="ctr"/>
            <a:fld id="{70D7F68C-E0BA-42A2-A7A5-96B03D97FA95}" type="slidenum">
              <a:rPr lang="ru-RU" sz="2000" smtClean="0"/>
              <a:pPr algn="ctr"/>
              <a:t>3</a:t>
            </a:fld>
            <a:endParaRPr lang="ru-RU" sz="2000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BB65468-7043-4DCC-BB4E-3F74002A16A2}"/>
              </a:ext>
            </a:extLst>
          </p:cNvPr>
          <p:cNvSpPr txBox="1"/>
          <p:nvPr/>
        </p:nvSpPr>
        <p:spPr>
          <a:xfrm>
            <a:off x="433387" y="851030"/>
            <a:ext cx="11325225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ru-RU" sz="2400" b="1" i="0" dirty="0">
                <a:effectLst/>
              </a:rPr>
              <a:t>Почему автоматизация — это новая поверхность атаки?</a:t>
            </a:r>
            <a:endParaRPr lang="ru-RU" sz="2400" b="0" i="0" dirty="0">
              <a:effectLst/>
            </a:endParaRPr>
          </a:p>
          <a:p>
            <a:pPr algn="l"/>
            <a:r>
              <a:rPr lang="ru-RU" sz="2400" b="0" i="0" dirty="0">
                <a:effectLst/>
              </a:rPr>
              <a:t>ZSM даёт системе право </a:t>
            </a:r>
            <a:r>
              <a:rPr lang="ru-RU" sz="2400" b="1" i="0" dirty="0">
                <a:effectLst/>
              </a:rPr>
              <a:t>изменять конфигурацию сети</a:t>
            </a:r>
            <a:r>
              <a:rPr lang="ru-RU" sz="2400" b="0" i="0" dirty="0">
                <a:effectLst/>
              </a:rPr>
              <a:t>. Основные угрозы:</a:t>
            </a:r>
          </a:p>
        </p:txBody>
      </p:sp>
      <p:graphicFrame>
        <p:nvGraphicFramePr>
          <p:cNvPr id="2" name="Таблица 1">
            <a:extLst>
              <a:ext uri="{FF2B5EF4-FFF2-40B4-BE49-F238E27FC236}">
                <a16:creationId xmlns:a16="http://schemas.microsoft.com/office/drawing/2014/main" id="{FEF95EF5-BF4B-4741-A2CB-0F7F3CEDB3E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1184135"/>
              </p:ext>
            </p:extLst>
          </p:nvPr>
        </p:nvGraphicFramePr>
        <p:xfrm>
          <a:off x="565181" y="1776783"/>
          <a:ext cx="9302719" cy="3589522"/>
        </p:xfrm>
        <a:graphic>
          <a:graphicData uri="http://schemas.openxmlformats.org/drawingml/2006/table">
            <a:tbl>
              <a:tblPr>
                <a:effectLst/>
                <a:tableStyleId>{5940675A-B579-460E-94D1-54222C63F5DA}</a:tableStyleId>
              </a:tblPr>
              <a:tblGrid>
                <a:gridCol w="3112324">
                  <a:extLst>
                    <a:ext uri="{9D8B030D-6E8A-4147-A177-3AD203B41FA5}">
                      <a16:colId xmlns:a16="http://schemas.microsoft.com/office/drawing/2014/main" val="508937681"/>
                    </a:ext>
                  </a:extLst>
                </a:gridCol>
                <a:gridCol w="6190395">
                  <a:extLst>
                    <a:ext uri="{9D8B030D-6E8A-4147-A177-3AD203B41FA5}">
                      <a16:colId xmlns:a16="http://schemas.microsoft.com/office/drawing/2014/main" val="3813031487"/>
                    </a:ext>
                  </a:extLst>
                </a:gridCol>
              </a:tblGrid>
              <a:tr h="543585">
                <a:tc>
                  <a:txBody>
                    <a:bodyPr/>
                    <a:lstStyle/>
                    <a:p>
                      <a:pPr algn="ctr"/>
                      <a:r>
                        <a:rPr lang="ru-RU" sz="2800" dirty="0"/>
                        <a:t>Угроза</a:t>
                      </a:r>
                    </a:p>
                  </a:txBody>
                  <a:tcPr marL="66602" marR="74002" marT="46251" marB="46251" anchor="ctr">
                    <a:solidFill>
                      <a:srgbClr val="FFFFFF">
                        <a:alpha val="89804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2800" dirty="0"/>
                        <a:t>Описание</a:t>
                      </a:r>
                    </a:p>
                  </a:txBody>
                  <a:tcPr marL="74002" marR="74002" marT="46251" marB="46251" anchor="ctr">
                    <a:solidFill>
                      <a:srgbClr val="FFFFFF">
                        <a:alpha val="89804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181095"/>
                  </a:ext>
                </a:extLst>
              </a:tr>
              <a:tr h="504833">
                <a:tc>
                  <a:txBody>
                    <a:bodyPr/>
                    <a:lstStyle/>
                    <a:p>
                      <a:r>
                        <a:rPr lang="ru-RU" sz="2000"/>
                        <a:t>Подмена телеметрии</a:t>
                      </a:r>
                    </a:p>
                  </a:txBody>
                  <a:tcPr marL="66602" marR="74002" marT="46251" marB="46251" anchor="ctr"/>
                </a:tc>
                <a:tc>
                  <a:txBody>
                    <a:bodyPr/>
                    <a:lstStyle/>
                    <a:p>
                      <a:r>
                        <a:rPr lang="ru-RU" sz="2000" dirty="0"/>
                        <a:t>Атакующий искажает данные мониторинга</a:t>
                      </a:r>
                    </a:p>
                  </a:txBody>
                  <a:tcPr marL="74002" marR="66602" marT="46251" marB="46251" anchor="ctr"/>
                </a:tc>
                <a:extLst>
                  <a:ext uri="{0D108BD9-81ED-4DB2-BD59-A6C34878D82A}">
                    <a16:rowId xmlns:a16="http://schemas.microsoft.com/office/drawing/2014/main" val="3348108098"/>
                  </a:ext>
                </a:extLst>
              </a:tr>
              <a:tr h="504833">
                <a:tc>
                  <a:txBody>
                    <a:bodyPr/>
                    <a:lstStyle/>
                    <a:p>
                      <a:r>
                        <a:rPr lang="ru-RU" sz="2000" dirty="0"/>
                        <a:t>Атаки на </a:t>
                      </a:r>
                      <a:r>
                        <a:rPr lang="en-US" sz="2000" dirty="0"/>
                        <a:t>ML-</a:t>
                      </a:r>
                      <a:r>
                        <a:rPr lang="ru-RU" sz="2000" dirty="0"/>
                        <a:t>модели</a:t>
                      </a:r>
                    </a:p>
                  </a:txBody>
                  <a:tcPr marL="66602" marR="74002" marT="46251" marB="46251" anchor="ctr"/>
                </a:tc>
                <a:tc>
                  <a:txBody>
                    <a:bodyPr/>
                    <a:lstStyle/>
                    <a:p>
                      <a:r>
                        <a:rPr lang="ru-RU" sz="2000" dirty="0"/>
                        <a:t>Отравление данных (</a:t>
                      </a:r>
                      <a:r>
                        <a:rPr lang="en-US" sz="2000" dirty="0"/>
                        <a:t>data poisoning)</a:t>
                      </a:r>
                    </a:p>
                  </a:txBody>
                  <a:tcPr marL="74002" marR="66602" marT="46251" marB="46251" anchor="ctr"/>
                </a:tc>
                <a:extLst>
                  <a:ext uri="{0D108BD9-81ED-4DB2-BD59-A6C34878D82A}">
                    <a16:rowId xmlns:a16="http://schemas.microsoft.com/office/drawing/2014/main" val="2228623707"/>
                  </a:ext>
                </a:extLst>
              </a:tr>
              <a:tr h="650612">
                <a:tc>
                  <a:txBody>
                    <a:bodyPr/>
                    <a:lstStyle/>
                    <a:p>
                      <a:r>
                        <a:rPr lang="ru-RU" sz="2000" dirty="0"/>
                        <a:t>Утечка конфигураций</a:t>
                      </a:r>
                    </a:p>
                  </a:txBody>
                  <a:tcPr marL="66602" marR="74002" marT="46251" marB="46251" anchor="ctr"/>
                </a:tc>
                <a:tc>
                  <a:txBody>
                    <a:bodyPr/>
                    <a:lstStyle/>
                    <a:p>
                      <a:r>
                        <a:rPr lang="ru-RU" sz="2000" dirty="0"/>
                        <a:t>Раскрытие топологии, секретов (K, OP/</a:t>
                      </a:r>
                      <a:r>
                        <a:rPr lang="ru-RU" sz="2000" dirty="0" err="1"/>
                        <a:t>OPc</a:t>
                      </a:r>
                      <a:r>
                        <a:rPr lang="ru-RU" sz="2000" dirty="0"/>
                        <a:t>)</a:t>
                      </a:r>
                    </a:p>
                  </a:txBody>
                  <a:tcPr marL="74002" marR="66602" marT="46251" marB="46251" anchor="ctr"/>
                </a:tc>
                <a:extLst>
                  <a:ext uri="{0D108BD9-81ED-4DB2-BD59-A6C34878D82A}">
                    <a16:rowId xmlns:a16="http://schemas.microsoft.com/office/drawing/2014/main" val="1619191787"/>
                  </a:ext>
                </a:extLst>
              </a:tr>
              <a:tr h="650612">
                <a:tc>
                  <a:txBody>
                    <a:bodyPr/>
                    <a:lstStyle/>
                    <a:p>
                      <a:r>
                        <a:rPr lang="ru-RU" sz="2000"/>
                        <a:t>Галлюцинации </a:t>
                      </a:r>
                      <a:r>
                        <a:rPr lang="en-US" sz="2000"/>
                        <a:t>LLM</a:t>
                      </a:r>
                    </a:p>
                  </a:txBody>
                  <a:tcPr marL="66602" marR="74002" marT="46251" marB="46251" anchor="ctr"/>
                </a:tc>
                <a:tc>
                  <a:txBody>
                    <a:bodyPr/>
                    <a:lstStyle/>
                    <a:p>
                      <a:r>
                        <a:rPr lang="ru-RU" sz="2000" dirty="0"/>
                        <a:t>Модель генерирует ошибочные команды</a:t>
                      </a:r>
                    </a:p>
                  </a:txBody>
                  <a:tcPr marL="74002" marR="66602" marT="46251" marB="46251" anchor="ctr"/>
                </a:tc>
                <a:extLst>
                  <a:ext uri="{0D108BD9-81ED-4DB2-BD59-A6C34878D82A}">
                    <a16:rowId xmlns:a16="http://schemas.microsoft.com/office/drawing/2014/main" val="3662282247"/>
                  </a:ext>
                </a:extLst>
              </a:tr>
              <a:tr h="735047">
                <a:tc>
                  <a:txBody>
                    <a:bodyPr/>
                    <a:lstStyle/>
                    <a:p>
                      <a:r>
                        <a:rPr lang="ru-RU" sz="2000"/>
                        <a:t>Отсутствие объяснимости</a:t>
                      </a:r>
                    </a:p>
                  </a:txBody>
                  <a:tcPr marL="66602" marR="74002" marT="46251" marB="46251" anchor="ctr"/>
                </a:tc>
                <a:tc>
                  <a:txBody>
                    <a:bodyPr/>
                    <a:lstStyle/>
                    <a:p>
                      <a:r>
                        <a:rPr lang="ru-RU" sz="2000" dirty="0"/>
                        <a:t>Невозможно понять, почему система приняла решение</a:t>
                      </a:r>
                    </a:p>
                  </a:txBody>
                  <a:tcPr marL="74002" marR="66602" marT="46251" marB="46251" anchor="ctr"/>
                </a:tc>
                <a:extLst>
                  <a:ext uri="{0D108BD9-81ED-4DB2-BD59-A6C34878D82A}">
                    <a16:rowId xmlns:a16="http://schemas.microsoft.com/office/drawing/2014/main" val="3054593972"/>
                  </a:ext>
                </a:extLst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85E465AD-876C-4A0B-9BC0-A1AA10647695}"/>
              </a:ext>
            </a:extLst>
          </p:cNvPr>
          <p:cNvSpPr txBox="1"/>
          <p:nvPr/>
        </p:nvSpPr>
        <p:spPr>
          <a:xfrm>
            <a:off x="565181" y="5576072"/>
            <a:ext cx="8832884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400" b="1" i="0" dirty="0">
                <a:effectLst/>
              </a:rPr>
              <a:t>Вывод:</a:t>
            </a:r>
            <a:r>
              <a:rPr lang="ru-RU" sz="2400" b="0" i="0" dirty="0">
                <a:effectLst/>
              </a:rPr>
              <a:t> без </a:t>
            </a:r>
            <a:r>
              <a:rPr lang="ru-RU" sz="2400" b="1" i="0" dirty="0">
                <a:effectLst/>
              </a:rPr>
              <a:t>верификации</a:t>
            </a:r>
            <a:r>
              <a:rPr lang="ru-RU" sz="2400" b="0" i="0" dirty="0">
                <a:effectLst/>
              </a:rPr>
              <a:t>, </a:t>
            </a:r>
            <a:r>
              <a:rPr lang="ru-RU" sz="2400" b="1" i="0" dirty="0">
                <a:effectLst/>
              </a:rPr>
              <a:t>аудита</a:t>
            </a:r>
            <a:r>
              <a:rPr lang="ru-RU" sz="2400" b="0" i="0" dirty="0">
                <a:effectLst/>
              </a:rPr>
              <a:t> и </a:t>
            </a:r>
            <a:r>
              <a:rPr lang="ru-RU" sz="2400" b="1" i="0" dirty="0">
                <a:effectLst/>
              </a:rPr>
              <a:t>локального выполнения</a:t>
            </a:r>
            <a:r>
              <a:rPr lang="ru-RU" sz="2400" b="0" i="0" dirty="0">
                <a:effectLst/>
              </a:rPr>
              <a:t> автоматизация небезопасна.</a:t>
            </a:r>
            <a:endParaRPr lang="ru-RU" sz="2400" dirty="0"/>
          </a:p>
        </p:txBody>
      </p:sp>
    </p:spTree>
    <p:extLst>
      <p:ext uri="{BB962C8B-B14F-4D97-AF65-F5344CB8AC3E}">
        <p14:creationId xmlns:p14="http://schemas.microsoft.com/office/powerpoint/2010/main" val="175260342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1079CDFF-57B0-4196-AD85-4ADFEF542FAF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artisticGlass/>
                    </a14:imgEffect>
                    <a14:imgEffect>
                      <a14:sharpenSoften amount="-50000"/>
                    </a14:imgEffect>
                    <a14:imgEffect>
                      <a14:saturation sat="33000"/>
                    </a14:imgEffect>
                    <a14:imgEffect>
                      <a14:brightnessContrast bright="40000" contrast="40000"/>
                    </a14:imgEffect>
                  </a14:imgLayer>
                </a14:imgProps>
              </a:ext>
            </a:extLst>
          </a:blip>
          <a:srcRect b="43336"/>
          <a:stretch/>
        </p:blipFill>
        <p:spPr>
          <a:xfrm>
            <a:off x="0" y="-19050"/>
            <a:ext cx="12192000" cy="6810375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82E74FE2-23F3-441A-AEE1-5A046E6AB7E0}"/>
              </a:ext>
            </a:extLst>
          </p:cNvPr>
          <p:cNvSpPr txBox="1"/>
          <p:nvPr/>
        </p:nvSpPr>
        <p:spPr>
          <a:xfrm>
            <a:off x="1431236" y="147746"/>
            <a:ext cx="8865704" cy="646331"/>
          </a:xfrm>
          <a:prstGeom prst="rect">
            <a:avLst/>
          </a:prstGeom>
          <a:solidFill>
            <a:srgbClr val="FFFFFF">
              <a:alpha val="10196"/>
            </a:srgbClr>
          </a:solidFill>
        </p:spPr>
        <p:txBody>
          <a:bodyPr wrap="square">
            <a:spAutoFit/>
          </a:bodyPr>
          <a:lstStyle/>
          <a:p>
            <a:pPr algn="ctr"/>
            <a:r>
              <a:rPr lang="ru-RU" sz="3600" b="1" dirty="0">
                <a:effectLst/>
              </a:rPr>
              <a:t>Два подхода к автоматизации</a:t>
            </a:r>
          </a:p>
        </p:txBody>
      </p:sp>
      <p:sp>
        <p:nvSpPr>
          <p:cNvPr id="26" name="Номер слайда 15">
            <a:extLst>
              <a:ext uri="{FF2B5EF4-FFF2-40B4-BE49-F238E27FC236}">
                <a16:creationId xmlns:a16="http://schemas.microsoft.com/office/drawing/2014/main" id="{DAA0CFDB-9FFC-4271-851D-DF5DAAFE2D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058525" y="6197302"/>
            <a:ext cx="382845" cy="369331"/>
          </a:xfrm>
        </p:spPr>
        <p:txBody>
          <a:bodyPr/>
          <a:lstStyle/>
          <a:p>
            <a:pPr algn="ctr"/>
            <a:fld id="{70D7F68C-E0BA-42A2-A7A5-96B03D97FA95}" type="slidenum">
              <a:rPr lang="ru-RU" sz="2000" smtClean="0"/>
              <a:pPr algn="ctr"/>
              <a:t>4</a:t>
            </a:fld>
            <a:endParaRPr lang="ru-RU" sz="2000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BB65468-7043-4DCC-BB4E-3F74002A16A2}"/>
              </a:ext>
            </a:extLst>
          </p:cNvPr>
          <p:cNvSpPr txBox="1"/>
          <p:nvPr/>
        </p:nvSpPr>
        <p:spPr>
          <a:xfrm>
            <a:off x="494996" y="762095"/>
            <a:ext cx="6017109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ru-RU" sz="2800" b="1" i="0" dirty="0">
                <a:effectLst/>
              </a:rPr>
              <a:t>MARL </a:t>
            </a:r>
            <a:r>
              <a:rPr lang="ru-RU" sz="2800" b="1" i="0" dirty="0" err="1">
                <a:effectLst/>
              </a:rPr>
              <a:t>vs</a:t>
            </a:r>
            <a:r>
              <a:rPr lang="ru-RU" sz="2800" b="1" i="0" dirty="0">
                <a:effectLst/>
              </a:rPr>
              <a:t> LLM: сравнение подходов</a:t>
            </a:r>
            <a:endParaRPr lang="ru-RU" sz="2800" b="0" i="0" dirty="0">
              <a:effectLst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5E465AD-876C-4A0B-9BC0-A1AA10647695}"/>
              </a:ext>
            </a:extLst>
          </p:cNvPr>
          <p:cNvSpPr txBox="1"/>
          <p:nvPr/>
        </p:nvSpPr>
        <p:spPr>
          <a:xfrm>
            <a:off x="423862" y="5550970"/>
            <a:ext cx="920757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400" b="1" i="0" dirty="0">
                <a:effectLst/>
              </a:rPr>
              <a:t>Вывод:</a:t>
            </a:r>
            <a:r>
              <a:rPr lang="ru-RU" sz="2400" b="0" i="0" dirty="0">
                <a:effectLst/>
              </a:rPr>
              <a:t> MARL — для адаптации, LLM — для создания конфигураций с нуля.</a:t>
            </a:r>
            <a:endParaRPr lang="ru-RU" sz="2400" dirty="0"/>
          </a:p>
        </p:txBody>
      </p:sp>
      <p:graphicFrame>
        <p:nvGraphicFramePr>
          <p:cNvPr id="3" name="Таблица 2">
            <a:extLst>
              <a:ext uri="{FF2B5EF4-FFF2-40B4-BE49-F238E27FC236}">
                <a16:creationId xmlns:a16="http://schemas.microsoft.com/office/drawing/2014/main" id="{14335BED-E9AB-4B9B-AD09-7FE26B3B2EB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46382992"/>
              </p:ext>
            </p:extLst>
          </p:nvPr>
        </p:nvGraphicFramePr>
        <p:xfrm>
          <a:off x="494996" y="1339305"/>
          <a:ext cx="8102352" cy="4093664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2700784">
                  <a:extLst>
                    <a:ext uri="{9D8B030D-6E8A-4147-A177-3AD203B41FA5}">
                      <a16:colId xmlns:a16="http://schemas.microsoft.com/office/drawing/2014/main" val="1154801627"/>
                    </a:ext>
                  </a:extLst>
                </a:gridCol>
                <a:gridCol w="2700784">
                  <a:extLst>
                    <a:ext uri="{9D8B030D-6E8A-4147-A177-3AD203B41FA5}">
                      <a16:colId xmlns:a16="http://schemas.microsoft.com/office/drawing/2014/main" val="479473188"/>
                    </a:ext>
                  </a:extLst>
                </a:gridCol>
                <a:gridCol w="2700784">
                  <a:extLst>
                    <a:ext uri="{9D8B030D-6E8A-4147-A177-3AD203B41FA5}">
                      <a16:colId xmlns:a16="http://schemas.microsoft.com/office/drawing/2014/main" val="3807350944"/>
                    </a:ext>
                  </a:extLst>
                </a:gridCol>
              </a:tblGrid>
              <a:tr h="227521">
                <a:tc>
                  <a:txBody>
                    <a:bodyPr/>
                    <a:lstStyle/>
                    <a:p>
                      <a:pPr algn="ctr"/>
                      <a:r>
                        <a:rPr lang="ru-RU" sz="2400" b="0">
                          <a:effectLst/>
                        </a:rPr>
                        <a:t>Параметр</a:t>
                      </a:r>
                      <a:endParaRPr lang="ru-RU" sz="2400" b="0">
                        <a:effectLst/>
                        <a:latin typeface="quote-cjk-patch"/>
                      </a:endParaRPr>
                    </a:p>
                  </a:txBody>
                  <a:tcPr marL="61191" marR="67990" marT="42494" marB="42494" anchor="ctr">
                    <a:solidFill>
                      <a:srgbClr val="FFFFFF">
                        <a:alpha val="5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b="0">
                          <a:effectLst/>
                        </a:rPr>
                        <a:t>MARL</a:t>
                      </a:r>
                      <a:endParaRPr lang="en-US" sz="2400" b="0">
                        <a:effectLst/>
                        <a:latin typeface="quote-cjk-patch"/>
                      </a:endParaRPr>
                    </a:p>
                  </a:txBody>
                  <a:tcPr marL="67990" marR="67990" marT="42494" marB="42494" anchor="ctr">
                    <a:solidFill>
                      <a:srgbClr val="FFFFFF">
                        <a:alpha val="5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b="0" dirty="0">
                          <a:effectLst/>
                        </a:rPr>
                        <a:t>LLM</a:t>
                      </a:r>
                      <a:endParaRPr lang="en-US" sz="2400" b="0" dirty="0">
                        <a:effectLst/>
                        <a:latin typeface="quote-cjk-patch"/>
                      </a:endParaRPr>
                    </a:p>
                  </a:txBody>
                  <a:tcPr marL="67990" marR="67990" marT="42494" marB="42494" anchor="ctr">
                    <a:solidFill>
                      <a:srgbClr val="FFFFFF">
                        <a:alpha val="50196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91507925"/>
                  </a:ext>
                </a:extLst>
              </a:tr>
              <a:tr h="538562">
                <a:tc>
                  <a:txBody>
                    <a:bodyPr/>
                    <a:lstStyle/>
                    <a:p>
                      <a:r>
                        <a:rPr lang="ru-RU" sz="2000" b="0">
                          <a:effectLst/>
                        </a:rPr>
                        <a:t>Принцип работы</a:t>
                      </a:r>
                      <a:endParaRPr lang="ru-RU" sz="2000" b="0">
                        <a:effectLst/>
                        <a:latin typeface="quote-cjk-patch"/>
                      </a:endParaRPr>
                    </a:p>
                  </a:txBody>
                  <a:tcPr marL="61191" marR="67990" marT="42494" marB="42494" anchor="ctr">
                    <a:solidFill>
                      <a:srgbClr val="FFFFFF">
                        <a:alpha val="3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2000" b="0" dirty="0">
                          <a:effectLst/>
                        </a:rPr>
                        <a:t>Обучение агентов на наградах</a:t>
                      </a:r>
                      <a:endParaRPr lang="ru-RU" sz="2000" b="0" dirty="0">
                        <a:effectLst/>
                        <a:latin typeface="quote-cjk-patch"/>
                      </a:endParaRPr>
                    </a:p>
                  </a:txBody>
                  <a:tcPr marL="67990" marR="67990" marT="42494" marB="42494" anchor="ctr">
                    <a:solidFill>
                      <a:srgbClr val="FFFFFF">
                        <a:alpha val="3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2000" b="0" dirty="0">
                          <a:effectLst/>
                        </a:rPr>
                        <a:t>Генерация текста по </a:t>
                      </a:r>
                      <a:r>
                        <a:rPr lang="ru-RU" sz="2000" b="0" dirty="0" err="1">
                          <a:effectLst/>
                        </a:rPr>
                        <a:t>промптам</a:t>
                      </a:r>
                      <a:endParaRPr lang="ru-RU" sz="2000" b="0" dirty="0">
                        <a:effectLst/>
                        <a:latin typeface="quote-cjk-patch"/>
                      </a:endParaRPr>
                    </a:p>
                  </a:txBody>
                  <a:tcPr marL="67990" marR="61191" marT="42494" marB="42494" anchor="ctr">
                    <a:solidFill>
                      <a:srgbClr val="FFFFFF">
                        <a:alpha val="30196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27129806"/>
                  </a:ext>
                </a:extLst>
              </a:tr>
              <a:tr h="383042">
                <a:tc>
                  <a:txBody>
                    <a:bodyPr/>
                    <a:lstStyle/>
                    <a:p>
                      <a:r>
                        <a:rPr lang="ru-RU" sz="2000" b="0">
                          <a:effectLst/>
                        </a:rPr>
                        <a:t>Вход</a:t>
                      </a:r>
                      <a:endParaRPr lang="ru-RU" sz="2000" b="0">
                        <a:effectLst/>
                        <a:latin typeface="quote-cjk-patch"/>
                      </a:endParaRPr>
                    </a:p>
                  </a:txBody>
                  <a:tcPr marL="61191" marR="67990" marT="42494" marB="42494" anchor="ctr">
                    <a:solidFill>
                      <a:srgbClr val="FFFFFF">
                        <a:alpha val="3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2000" b="0">
                          <a:effectLst/>
                        </a:rPr>
                        <a:t>Числовые </a:t>
                      </a:r>
                      <a:r>
                        <a:rPr lang="en-US" sz="2000" b="0">
                          <a:effectLst/>
                        </a:rPr>
                        <a:t>KPI</a:t>
                      </a:r>
                      <a:endParaRPr lang="en-US" sz="2000" b="0">
                        <a:effectLst/>
                        <a:latin typeface="quote-cjk-patch"/>
                      </a:endParaRPr>
                    </a:p>
                  </a:txBody>
                  <a:tcPr marL="67990" marR="67990" marT="42494" marB="42494" anchor="ctr">
                    <a:solidFill>
                      <a:srgbClr val="FFFFFF">
                        <a:alpha val="3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2000" b="0">
                          <a:effectLst/>
                        </a:rPr>
                        <a:t>Естественный язык</a:t>
                      </a:r>
                      <a:endParaRPr lang="ru-RU" sz="2000" b="0">
                        <a:effectLst/>
                        <a:latin typeface="quote-cjk-patch"/>
                      </a:endParaRPr>
                    </a:p>
                  </a:txBody>
                  <a:tcPr marL="67990" marR="61191" marT="42494" marB="42494" anchor="ctr">
                    <a:solidFill>
                      <a:srgbClr val="FFFFFF">
                        <a:alpha val="30196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61870727"/>
                  </a:ext>
                </a:extLst>
              </a:tr>
              <a:tr h="383042">
                <a:tc>
                  <a:txBody>
                    <a:bodyPr/>
                    <a:lstStyle/>
                    <a:p>
                      <a:r>
                        <a:rPr lang="ru-RU" sz="2000" b="0" dirty="0">
                          <a:effectLst/>
                        </a:rPr>
                        <a:t>Выход</a:t>
                      </a:r>
                      <a:endParaRPr lang="ru-RU" sz="2000" b="0" dirty="0">
                        <a:effectLst/>
                        <a:latin typeface="quote-cjk-patch"/>
                      </a:endParaRPr>
                    </a:p>
                  </a:txBody>
                  <a:tcPr marL="61191" marR="67990" marT="42494" marB="42494" anchor="ctr">
                    <a:solidFill>
                      <a:srgbClr val="FFFFFF">
                        <a:alpha val="3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2000" b="0" dirty="0">
                          <a:effectLst/>
                        </a:rPr>
                        <a:t>Действие (числовое)</a:t>
                      </a:r>
                      <a:endParaRPr lang="ru-RU" sz="2000" b="0" dirty="0">
                        <a:effectLst/>
                        <a:latin typeface="quote-cjk-patch"/>
                      </a:endParaRPr>
                    </a:p>
                  </a:txBody>
                  <a:tcPr marL="67990" marR="67990" marT="42494" marB="42494" anchor="ctr">
                    <a:solidFill>
                      <a:srgbClr val="FFFFFF">
                        <a:alpha val="3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2000" b="0">
                          <a:effectLst/>
                        </a:rPr>
                        <a:t>Команды </a:t>
                      </a:r>
                      <a:r>
                        <a:rPr lang="en-US" sz="2000" b="0">
                          <a:effectLst/>
                        </a:rPr>
                        <a:t>CLI / YAML</a:t>
                      </a:r>
                      <a:endParaRPr lang="en-US" sz="2000" b="0">
                        <a:effectLst/>
                        <a:latin typeface="quote-cjk-patch"/>
                      </a:endParaRPr>
                    </a:p>
                  </a:txBody>
                  <a:tcPr marL="67990" marR="61191" marT="42494" marB="42494" anchor="ctr">
                    <a:solidFill>
                      <a:srgbClr val="FFFFFF">
                        <a:alpha val="30196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39133810"/>
                  </a:ext>
                </a:extLst>
              </a:tr>
              <a:tr h="383042">
                <a:tc>
                  <a:txBody>
                    <a:bodyPr/>
                    <a:lstStyle/>
                    <a:p>
                      <a:r>
                        <a:rPr lang="ru-RU" sz="2000" b="0" dirty="0">
                          <a:effectLst/>
                        </a:rPr>
                        <a:t>Требует обучения</a:t>
                      </a:r>
                      <a:endParaRPr lang="ru-RU" sz="2000" b="0" dirty="0">
                        <a:effectLst/>
                        <a:latin typeface="quote-cjk-patch"/>
                      </a:endParaRPr>
                    </a:p>
                  </a:txBody>
                  <a:tcPr marL="61191" marR="67990" marT="42494" marB="42494" anchor="ctr">
                    <a:solidFill>
                      <a:srgbClr val="FFFFFF">
                        <a:alpha val="3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2000" b="0" dirty="0">
                          <a:effectLst/>
                        </a:rPr>
                        <a:t>Да (долгое)</a:t>
                      </a:r>
                      <a:endParaRPr lang="ru-RU" sz="2000" b="0" dirty="0">
                        <a:effectLst/>
                        <a:latin typeface="quote-cjk-patch"/>
                      </a:endParaRPr>
                    </a:p>
                  </a:txBody>
                  <a:tcPr marL="67990" marR="67990" marT="42494" marB="42494" anchor="ctr">
                    <a:solidFill>
                      <a:srgbClr val="FFFFFF">
                        <a:alpha val="3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2000" b="0" dirty="0">
                          <a:effectLst/>
                        </a:rPr>
                        <a:t>Нет (</a:t>
                      </a:r>
                      <a:r>
                        <a:rPr lang="en-US" sz="2000" b="0" dirty="0">
                          <a:effectLst/>
                        </a:rPr>
                        <a:t>zero-shot)</a:t>
                      </a:r>
                      <a:endParaRPr lang="en-US" sz="2000" b="0" dirty="0">
                        <a:effectLst/>
                        <a:latin typeface="quote-cjk-patch"/>
                      </a:endParaRPr>
                    </a:p>
                  </a:txBody>
                  <a:tcPr marL="67990" marR="61191" marT="42494" marB="42494" anchor="ctr">
                    <a:solidFill>
                      <a:srgbClr val="FFFFFF">
                        <a:alpha val="30196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81635584"/>
                  </a:ext>
                </a:extLst>
              </a:tr>
              <a:tr h="383042">
                <a:tc>
                  <a:txBody>
                    <a:bodyPr/>
                    <a:lstStyle/>
                    <a:p>
                      <a:r>
                        <a:rPr lang="ru-RU" sz="2000" b="0">
                          <a:effectLst/>
                        </a:rPr>
                        <a:t>Интерпретируемость</a:t>
                      </a:r>
                      <a:endParaRPr lang="ru-RU" sz="2000" b="0">
                        <a:effectLst/>
                        <a:latin typeface="quote-cjk-patch"/>
                      </a:endParaRPr>
                    </a:p>
                  </a:txBody>
                  <a:tcPr marL="61191" marR="67990" marT="42494" marB="42494" anchor="ctr">
                    <a:solidFill>
                      <a:srgbClr val="FFFFFF">
                        <a:alpha val="3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2000" b="0">
                          <a:effectLst/>
                        </a:rPr>
                        <a:t>Низкая</a:t>
                      </a:r>
                      <a:endParaRPr lang="ru-RU" sz="2000" b="0">
                        <a:effectLst/>
                        <a:latin typeface="quote-cjk-patch"/>
                      </a:endParaRPr>
                    </a:p>
                  </a:txBody>
                  <a:tcPr marL="67990" marR="67990" marT="42494" marB="42494" anchor="ctr">
                    <a:solidFill>
                      <a:srgbClr val="FFFFFF">
                        <a:alpha val="3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2000" b="0" dirty="0">
                          <a:effectLst/>
                        </a:rPr>
                        <a:t>Высокая</a:t>
                      </a:r>
                      <a:endParaRPr lang="ru-RU" sz="2000" b="0" dirty="0">
                        <a:effectLst/>
                        <a:latin typeface="quote-cjk-patch"/>
                      </a:endParaRPr>
                    </a:p>
                  </a:txBody>
                  <a:tcPr marL="67990" marR="61191" marT="42494" marB="42494" anchor="ctr">
                    <a:solidFill>
                      <a:srgbClr val="FFFFFF">
                        <a:alpha val="30196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4117753"/>
                  </a:ext>
                </a:extLst>
              </a:tr>
              <a:tr h="694083">
                <a:tc>
                  <a:txBody>
                    <a:bodyPr/>
                    <a:lstStyle/>
                    <a:p>
                      <a:r>
                        <a:rPr lang="ru-RU" sz="2000" b="0" dirty="0">
                          <a:effectLst/>
                        </a:rPr>
                        <a:t>Применимость</a:t>
                      </a:r>
                      <a:endParaRPr lang="ru-RU" sz="2000" b="0" dirty="0">
                        <a:effectLst/>
                        <a:latin typeface="quote-cjk-patch"/>
                      </a:endParaRPr>
                    </a:p>
                  </a:txBody>
                  <a:tcPr marL="61191" marR="67990" marT="42494" marB="42494" anchor="ctr">
                    <a:solidFill>
                      <a:srgbClr val="FFFFFF">
                        <a:alpha val="3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2000" b="0">
                          <a:effectLst/>
                        </a:rPr>
                        <a:t>Оптимизация параметров</a:t>
                      </a:r>
                      <a:endParaRPr lang="ru-RU" sz="2000" b="0">
                        <a:effectLst/>
                        <a:latin typeface="quote-cjk-patch"/>
                      </a:endParaRPr>
                    </a:p>
                  </a:txBody>
                  <a:tcPr marL="67990" marR="67990" marT="42494" marB="42494" anchor="ctr">
                    <a:solidFill>
                      <a:srgbClr val="FFFFFF">
                        <a:alpha val="3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2000" b="0">
                          <a:effectLst/>
                        </a:rPr>
                        <a:t>Генерация конфигураций</a:t>
                      </a:r>
                      <a:endParaRPr lang="ru-RU" sz="2000" b="0">
                        <a:effectLst/>
                        <a:latin typeface="quote-cjk-patch"/>
                      </a:endParaRPr>
                    </a:p>
                  </a:txBody>
                  <a:tcPr marL="67990" marR="61191" marT="42494" marB="42494" anchor="ctr">
                    <a:solidFill>
                      <a:srgbClr val="FFFFFF">
                        <a:alpha val="30196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43480496"/>
                  </a:ext>
                </a:extLst>
              </a:tr>
              <a:tr h="694083">
                <a:tc>
                  <a:txBody>
                    <a:bodyPr/>
                    <a:lstStyle/>
                    <a:p>
                      <a:r>
                        <a:rPr lang="ru-RU" sz="2000" b="0">
                          <a:effectLst/>
                        </a:rPr>
                        <a:t>Приватность</a:t>
                      </a:r>
                      <a:endParaRPr lang="ru-RU" sz="2000" b="0">
                        <a:effectLst/>
                        <a:latin typeface="quote-cjk-patch"/>
                      </a:endParaRPr>
                    </a:p>
                  </a:txBody>
                  <a:tcPr marL="61191" marR="67990" marT="42494" marB="42494" anchor="ctr">
                    <a:solidFill>
                      <a:srgbClr val="FFFFFF">
                        <a:alpha val="3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2000" b="0">
                          <a:effectLst/>
                        </a:rPr>
                        <a:t>Данные чувствительны</a:t>
                      </a:r>
                      <a:endParaRPr lang="ru-RU" sz="2000" b="0">
                        <a:effectLst/>
                        <a:latin typeface="quote-cjk-patch"/>
                      </a:endParaRPr>
                    </a:p>
                  </a:txBody>
                  <a:tcPr marL="67990" marR="67990" marT="42494" marB="42494" anchor="ctr">
                    <a:solidFill>
                      <a:srgbClr val="FFFFFF">
                        <a:alpha val="3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2000" b="0" dirty="0">
                          <a:effectLst/>
                        </a:rPr>
                        <a:t>Локальное выполнение</a:t>
                      </a:r>
                      <a:endParaRPr lang="ru-RU" sz="2000" b="0" dirty="0">
                        <a:effectLst/>
                        <a:latin typeface="quote-cjk-patch"/>
                      </a:endParaRPr>
                    </a:p>
                  </a:txBody>
                  <a:tcPr marL="67990" marR="61191" marT="42494" marB="42494" anchor="ctr">
                    <a:solidFill>
                      <a:srgbClr val="FFFFFF">
                        <a:alpha val="30196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33278276"/>
                  </a:ext>
                </a:extLst>
              </a:tr>
            </a:tbl>
          </a:graphicData>
        </a:graphic>
      </p:graphicFrame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C481B667-99BC-41F1-B1EE-9F8133E062BD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lum bright="70000" contrast="-70000"/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artisticCrisscrossEtching/>
                    </a14:imgEffect>
                    <a14:imgEffect>
                      <a14:colorTemperature colorTemp="1500"/>
                    </a14:imgEffect>
                    <a14:imgEffect>
                      <a14:saturation sat="24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r="50136"/>
          <a:stretch/>
        </p:blipFill>
        <p:spPr>
          <a:xfrm>
            <a:off x="9144000" y="252521"/>
            <a:ext cx="3047999" cy="61834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7417585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1079CDFF-57B0-4196-AD85-4ADFEF542FAF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artisticGlass/>
                    </a14:imgEffect>
                    <a14:imgEffect>
                      <a14:sharpenSoften amount="-50000"/>
                    </a14:imgEffect>
                    <a14:imgEffect>
                      <a14:saturation sat="33000"/>
                    </a14:imgEffect>
                    <a14:imgEffect>
                      <a14:brightnessContrast bright="40000" contrast="40000"/>
                    </a14:imgEffect>
                  </a14:imgLayer>
                </a14:imgProps>
              </a:ext>
            </a:extLst>
          </a:blip>
          <a:srcRect b="43336"/>
          <a:stretch/>
        </p:blipFill>
        <p:spPr>
          <a:xfrm>
            <a:off x="0" y="-19050"/>
            <a:ext cx="12192000" cy="6810375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82E74FE2-23F3-441A-AEE1-5A046E6AB7E0}"/>
              </a:ext>
            </a:extLst>
          </p:cNvPr>
          <p:cNvSpPr txBox="1"/>
          <p:nvPr/>
        </p:nvSpPr>
        <p:spPr>
          <a:xfrm>
            <a:off x="1431236" y="147746"/>
            <a:ext cx="8865704" cy="646331"/>
          </a:xfrm>
          <a:prstGeom prst="rect">
            <a:avLst/>
          </a:prstGeom>
          <a:solidFill>
            <a:srgbClr val="FFFFFF">
              <a:alpha val="10196"/>
            </a:srgbClr>
          </a:solidFill>
        </p:spPr>
        <p:txBody>
          <a:bodyPr wrap="square">
            <a:spAutoFit/>
          </a:bodyPr>
          <a:lstStyle/>
          <a:p>
            <a:pPr algn="ctr"/>
            <a:r>
              <a:rPr lang="en-US" sz="3600" b="1" dirty="0">
                <a:effectLst/>
              </a:rPr>
              <a:t>LLM-</a:t>
            </a:r>
            <a:r>
              <a:rPr lang="en-US" sz="3600" b="1" dirty="0" err="1">
                <a:effectLst/>
              </a:rPr>
              <a:t>NetCFG</a:t>
            </a:r>
            <a:r>
              <a:rPr lang="ru-RU" sz="3600" b="1" dirty="0">
                <a:effectLst/>
              </a:rPr>
              <a:t> </a:t>
            </a:r>
          </a:p>
        </p:txBody>
      </p:sp>
      <p:sp>
        <p:nvSpPr>
          <p:cNvPr id="26" name="Номер слайда 15">
            <a:extLst>
              <a:ext uri="{FF2B5EF4-FFF2-40B4-BE49-F238E27FC236}">
                <a16:creationId xmlns:a16="http://schemas.microsoft.com/office/drawing/2014/main" id="{DAA0CFDB-9FFC-4271-851D-DF5DAAFE2D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058525" y="6197302"/>
            <a:ext cx="382845" cy="369331"/>
          </a:xfrm>
        </p:spPr>
        <p:txBody>
          <a:bodyPr/>
          <a:lstStyle/>
          <a:p>
            <a:pPr algn="ctr"/>
            <a:fld id="{70D7F68C-E0BA-42A2-A7A5-96B03D97FA95}" type="slidenum">
              <a:rPr lang="ru-RU" sz="2000" smtClean="0"/>
              <a:pPr algn="ctr"/>
              <a:t>5</a:t>
            </a:fld>
            <a:endParaRPr lang="ru-RU" sz="2000" dirty="0"/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588B82E2-8FAC-4613-89EA-556D6FCF2B08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lum bright="70000" contrast="-70000"/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artisticCrisscrossEtching/>
                    </a14:imgEffect>
                    <a14:imgEffect>
                      <a14:colorTemperature colorTemp="1500"/>
                    </a14:imgEffect>
                    <a14:imgEffect>
                      <a14:saturation sat="24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r="50136"/>
          <a:stretch/>
        </p:blipFill>
        <p:spPr>
          <a:xfrm>
            <a:off x="9144000" y="252521"/>
            <a:ext cx="3047999" cy="6183480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C54345D8-6AEF-417D-A3E2-2DBC029B4939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3110" y="821536"/>
            <a:ext cx="10841956" cy="5375766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0" tIns="101568" rIns="0" bIns="101568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ru-RU" altLang="ru-RU" sz="2800" dirty="0">
                <a:latin typeface="+mn-lt"/>
              </a:rPr>
              <a:t>Как работает LLM-генерация конфигураций (по статье </a:t>
            </a:r>
            <a:r>
              <a:rPr lang="ru-RU" altLang="ru-RU" sz="2800" dirty="0" err="1">
                <a:latin typeface="+mn-lt"/>
              </a:rPr>
              <a:t>Lira</a:t>
            </a:r>
            <a:r>
              <a:rPr lang="ru-RU" altLang="ru-RU" sz="2800" dirty="0">
                <a:latin typeface="+mn-lt"/>
              </a:rPr>
              <a:t> </a:t>
            </a:r>
            <a:r>
              <a:rPr lang="ru-RU" altLang="ru-RU" sz="2800" dirty="0" err="1">
                <a:latin typeface="+mn-lt"/>
              </a:rPr>
              <a:t>et</a:t>
            </a:r>
            <a:r>
              <a:rPr lang="ru-RU" altLang="ru-RU" sz="2800" dirty="0">
                <a:latin typeface="+mn-lt"/>
              </a:rPr>
              <a:t> </a:t>
            </a:r>
            <a:r>
              <a:rPr lang="ru-RU" altLang="ru-RU" sz="2800" dirty="0" err="1">
                <a:latin typeface="+mn-lt"/>
              </a:rPr>
              <a:t>al</a:t>
            </a:r>
            <a:r>
              <a:rPr lang="ru-RU" altLang="ru-RU" sz="2800" dirty="0">
                <a:latin typeface="+mn-lt"/>
              </a:rPr>
              <a:t>., 2024)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ru-RU" altLang="ru-RU" sz="2800" dirty="0">
                <a:latin typeface="+mn-lt"/>
              </a:rPr>
              <a:t>Система: LLM-</a:t>
            </a:r>
            <a:r>
              <a:rPr lang="ru-RU" altLang="ru-RU" sz="2800" dirty="0" err="1">
                <a:latin typeface="+mn-lt"/>
              </a:rPr>
              <a:t>NetCFG</a:t>
            </a:r>
            <a:r>
              <a:rPr lang="ru-RU" altLang="ru-RU" sz="2800" dirty="0">
                <a:latin typeface="+mn-lt"/>
              </a:rPr>
              <a:t> (локальная LLM Zephyr-7B + верификатор </a:t>
            </a:r>
            <a:r>
              <a:rPr lang="ru-RU" altLang="ru-RU" sz="2800" dirty="0" err="1">
                <a:latin typeface="+mn-lt"/>
              </a:rPr>
              <a:t>Batfish</a:t>
            </a:r>
            <a:r>
              <a:rPr lang="ru-RU" altLang="ru-RU" sz="2800" dirty="0">
                <a:latin typeface="+mn-lt"/>
              </a:rPr>
              <a:t>).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ru-RU" altLang="ru-RU" sz="2800" dirty="0">
                <a:latin typeface="+mn-lt"/>
              </a:rPr>
              <a:t>Процесс:</a:t>
            </a:r>
          </a:p>
          <a:p>
            <a:pPr marL="457200" marR="0" lvl="1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AutoNum type="arabicPeriod"/>
              <a:tabLst/>
            </a:pPr>
            <a:r>
              <a:rPr lang="ru-RU" altLang="ru-RU" sz="2800" dirty="0" err="1">
                <a:latin typeface="+mn-lt"/>
              </a:rPr>
              <a:t>Интент</a:t>
            </a:r>
            <a:r>
              <a:rPr lang="ru-RU" altLang="ru-RU" sz="2800" dirty="0">
                <a:latin typeface="+mn-lt"/>
              </a:rPr>
              <a:t> на естественном языке =</a:t>
            </a:r>
            <a:r>
              <a:rPr lang="en-US" altLang="ru-RU" sz="2800" dirty="0">
                <a:latin typeface="+mn-lt"/>
              </a:rPr>
              <a:t>&gt;</a:t>
            </a:r>
            <a:r>
              <a:rPr lang="ru-RU" altLang="ru-RU" sz="2800" dirty="0">
                <a:latin typeface="+mn-lt"/>
              </a:rPr>
              <a:t> </a:t>
            </a:r>
            <a:r>
              <a:rPr lang="ru-RU" altLang="ru-RU" sz="2800" dirty="0" err="1">
                <a:latin typeface="+mn-lt"/>
              </a:rPr>
              <a:t>Orchestrator</a:t>
            </a:r>
            <a:r>
              <a:rPr lang="ru-RU" altLang="ru-RU" sz="2800" dirty="0">
                <a:latin typeface="+mn-lt"/>
              </a:rPr>
              <a:t> (классификация);</a:t>
            </a:r>
          </a:p>
          <a:p>
            <a:pPr marL="457200" marR="0" lvl="1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AutoNum type="arabicPeriod" startAt="2"/>
              <a:tabLst/>
            </a:pPr>
            <a:r>
              <a:rPr lang="ru-RU" altLang="ru-RU" sz="2800" dirty="0">
                <a:latin typeface="+mn-lt"/>
              </a:rPr>
              <a:t>LLM генерирует команды CLI;</a:t>
            </a:r>
          </a:p>
          <a:p>
            <a:pPr marL="457200" marR="0" lvl="1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AutoNum type="arabicPeriod" startAt="3"/>
              <a:tabLst/>
            </a:pPr>
            <a:r>
              <a:rPr lang="ru-RU" altLang="ru-RU" sz="2800" dirty="0" err="1">
                <a:latin typeface="+mn-lt"/>
              </a:rPr>
              <a:t>Verifier</a:t>
            </a:r>
            <a:r>
              <a:rPr lang="ru-RU" altLang="ru-RU" sz="2800" dirty="0">
                <a:latin typeface="+mn-lt"/>
              </a:rPr>
              <a:t> (</a:t>
            </a:r>
            <a:r>
              <a:rPr lang="ru-RU" altLang="ru-RU" sz="2800" dirty="0" err="1">
                <a:latin typeface="+mn-lt"/>
              </a:rPr>
              <a:t>Batfish</a:t>
            </a:r>
            <a:r>
              <a:rPr lang="ru-RU" altLang="ru-RU" sz="2800" dirty="0">
                <a:latin typeface="+mn-lt"/>
              </a:rPr>
              <a:t>) проверяет синтаксис =</a:t>
            </a:r>
            <a:r>
              <a:rPr lang="en-US" altLang="ru-RU" sz="2800" dirty="0">
                <a:latin typeface="+mn-lt"/>
              </a:rPr>
              <a:t>&gt;</a:t>
            </a:r>
            <a:r>
              <a:rPr lang="ru-RU" altLang="ru-RU" sz="2800" dirty="0">
                <a:latin typeface="+mn-lt"/>
              </a:rPr>
              <a:t> при ошибке цикл повторяется.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ru-RU" altLang="ru-RU" sz="2800" dirty="0">
                <a:latin typeface="+mn-lt"/>
              </a:rPr>
              <a:t>Результаты (90 интентов):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lang="ru-RU" altLang="ru-RU" sz="2800" dirty="0">
                <a:latin typeface="+mn-lt"/>
              </a:rPr>
              <a:t> Точность классификации: 92,2%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lang="ru-RU" altLang="ru-RU" sz="2800" dirty="0">
                <a:latin typeface="+mn-lt"/>
              </a:rPr>
              <a:t> Время выполнения: 5–10+ минут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lang="ru-RU" altLang="ru-RU" sz="2800" dirty="0">
                <a:latin typeface="+mn-lt"/>
              </a:rPr>
              <a:t> 7,8% ошибок — при нечётких запросах.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ru-RU" altLang="ru-RU" sz="2800" dirty="0">
                <a:latin typeface="+mn-lt"/>
              </a:rPr>
              <a:t>Ограничения: время, галлюцинации, необходимость верификации.</a:t>
            </a:r>
          </a:p>
        </p:txBody>
      </p:sp>
    </p:spTree>
    <p:extLst>
      <p:ext uri="{BB962C8B-B14F-4D97-AF65-F5344CB8AC3E}">
        <p14:creationId xmlns:p14="http://schemas.microsoft.com/office/powerpoint/2010/main" val="198567329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1079CDFF-57B0-4196-AD85-4ADFEF542FAF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artisticGlass/>
                    </a14:imgEffect>
                    <a14:imgEffect>
                      <a14:sharpenSoften amount="-50000"/>
                    </a14:imgEffect>
                    <a14:imgEffect>
                      <a14:saturation sat="33000"/>
                    </a14:imgEffect>
                    <a14:imgEffect>
                      <a14:brightnessContrast bright="40000" contrast="40000"/>
                    </a14:imgEffect>
                  </a14:imgLayer>
                </a14:imgProps>
              </a:ext>
            </a:extLst>
          </a:blip>
          <a:srcRect b="43336"/>
          <a:stretch/>
        </p:blipFill>
        <p:spPr>
          <a:xfrm>
            <a:off x="0" y="-19050"/>
            <a:ext cx="12192000" cy="6810375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82E74FE2-23F3-441A-AEE1-5A046E6AB7E0}"/>
              </a:ext>
            </a:extLst>
          </p:cNvPr>
          <p:cNvSpPr txBox="1"/>
          <p:nvPr/>
        </p:nvSpPr>
        <p:spPr>
          <a:xfrm>
            <a:off x="1431236" y="150865"/>
            <a:ext cx="8865704" cy="646331"/>
          </a:xfrm>
          <a:prstGeom prst="rect">
            <a:avLst/>
          </a:prstGeom>
          <a:solidFill>
            <a:srgbClr val="FFFFFF">
              <a:alpha val="10196"/>
            </a:srgbClr>
          </a:solidFill>
        </p:spPr>
        <p:txBody>
          <a:bodyPr wrap="square">
            <a:spAutoFit/>
          </a:bodyPr>
          <a:lstStyle/>
          <a:p>
            <a:pPr algn="ctr"/>
            <a:r>
              <a:rPr lang="ru-RU" sz="3600" b="1" dirty="0">
                <a:effectLst/>
              </a:rPr>
              <a:t>Эксперимент</a:t>
            </a:r>
          </a:p>
        </p:txBody>
      </p:sp>
      <p:sp>
        <p:nvSpPr>
          <p:cNvPr id="26" name="Номер слайда 15">
            <a:extLst>
              <a:ext uri="{FF2B5EF4-FFF2-40B4-BE49-F238E27FC236}">
                <a16:creationId xmlns:a16="http://schemas.microsoft.com/office/drawing/2014/main" id="{DAA0CFDB-9FFC-4271-851D-DF5DAAFE2D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058525" y="6197302"/>
            <a:ext cx="382845" cy="369331"/>
          </a:xfrm>
        </p:spPr>
        <p:txBody>
          <a:bodyPr/>
          <a:lstStyle/>
          <a:p>
            <a:pPr algn="ctr"/>
            <a:fld id="{70D7F68C-E0BA-42A2-A7A5-96B03D97FA95}" type="slidenum">
              <a:rPr lang="ru-RU" sz="2000" smtClean="0"/>
              <a:pPr algn="ctr"/>
              <a:t>6</a:t>
            </a:fld>
            <a:endParaRPr lang="ru-RU" sz="2000" dirty="0"/>
          </a:p>
        </p:txBody>
      </p:sp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999395E1-5F45-49CC-8EBB-3E5EEBAEB0D5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lum bright="70000" contrast="-70000"/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artisticCrisscrossEtching/>
                    </a14:imgEffect>
                    <a14:imgEffect>
                      <a14:colorTemperature colorTemp="1500"/>
                    </a14:imgEffect>
                    <a14:imgEffect>
                      <a14:saturation sat="24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r="50136"/>
          <a:stretch/>
        </p:blipFill>
        <p:spPr>
          <a:xfrm>
            <a:off x="9144000" y="252521"/>
            <a:ext cx="3047999" cy="6183480"/>
          </a:xfrm>
          <a:prstGeom prst="rect">
            <a:avLst/>
          </a:prstGeom>
        </p:spPr>
      </p:pic>
      <p:sp>
        <p:nvSpPr>
          <p:cNvPr id="3" name="Rectangle 1">
            <a:extLst>
              <a:ext uri="{FF2B5EF4-FFF2-40B4-BE49-F238E27FC236}">
                <a16:creationId xmlns:a16="http://schemas.microsoft.com/office/drawing/2014/main" id="{004BDC9F-85AF-4408-B2ED-AA440484F69C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1481" y="636869"/>
            <a:ext cx="11913394" cy="5745098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0" tIns="101568" rIns="0" bIns="101568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ru-RU" altLang="ru-RU" sz="2400" dirty="0">
                <a:latin typeface="+mn-lt"/>
              </a:rPr>
              <a:t>Экспериментальная реализация на локальном оборудовании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ru-RU" altLang="ru-RU" sz="2400" dirty="0">
                <a:latin typeface="+mn-lt"/>
              </a:rPr>
              <a:t>Цель: проверить, может ли LLM генерировать конфигурации без облачных сервисов.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ru-RU" altLang="ru-RU" sz="2400" dirty="0">
                <a:latin typeface="+mn-lt"/>
              </a:rPr>
              <a:t>     Стенд: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lang="ru-RU" altLang="ru-RU" sz="2400" dirty="0">
                <a:latin typeface="+mn-lt"/>
              </a:rPr>
              <a:t> </a:t>
            </a:r>
            <a:r>
              <a:rPr lang="ru-RU" altLang="ru-RU" sz="2400" dirty="0" err="1">
                <a:latin typeface="+mn-lt"/>
              </a:rPr>
              <a:t>Windows</a:t>
            </a:r>
            <a:r>
              <a:rPr lang="ru-RU" altLang="ru-RU" sz="2400" dirty="0">
                <a:latin typeface="+mn-lt"/>
              </a:rPr>
              <a:t> 10 + Ollama + phi3:mini (3.8B) + Python.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ru-RU" altLang="ru-RU" sz="2400" dirty="0">
                <a:latin typeface="+mn-lt"/>
              </a:rPr>
              <a:t>     Результат: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lang="ru-RU" altLang="ru-RU" sz="2400" dirty="0">
                <a:latin typeface="+mn-lt"/>
              </a:rPr>
              <a:t> Сгенерирован YAML-конфиг для </a:t>
            </a:r>
            <a:r>
              <a:rPr lang="ru-RU" altLang="ru-RU" sz="2400" dirty="0" err="1">
                <a:latin typeface="+mn-lt"/>
              </a:rPr>
              <a:t>Open</a:t>
            </a:r>
            <a:r>
              <a:rPr lang="ru-RU" altLang="ru-RU" sz="2400" dirty="0">
                <a:latin typeface="+mn-lt"/>
              </a:rPr>
              <a:t> </a:t>
            </a:r>
            <a:r>
              <a:rPr lang="ru-RU" altLang="ru-RU" sz="2400" dirty="0" err="1">
                <a:latin typeface="+mn-lt"/>
              </a:rPr>
              <a:t>vSwitch</a:t>
            </a:r>
            <a:r>
              <a:rPr lang="ru-RU" altLang="ru-RU" sz="2400" dirty="0">
                <a:latin typeface="+mn-lt"/>
              </a:rPr>
              <a:t> и команды </a:t>
            </a:r>
            <a:r>
              <a:rPr lang="ru-RU" altLang="ru-RU" sz="2400" dirty="0" err="1">
                <a:latin typeface="+mn-lt"/>
              </a:rPr>
              <a:t>ovn</a:t>
            </a:r>
            <a:r>
              <a:rPr lang="ru-RU" altLang="ru-RU" sz="2400" dirty="0">
                <a:latin typeface="+mn-lt"/>
              </a:rPr>
              <a:t> </a:t>
            </a:r>
            <a:r>
              <a:rPr lang="ru-RU" altLang="ru-RU" sz="2400" dirty="0" err="1">
                <a:latin typeface="+mn-lt"/>
              </a:rPr>
              <a:t>create</a:t>
            </a:r>
            <a:r>
              <a:rPr lang="ru-RU" altLang="ru-RU" sz="2400" dirty="0">
                <a:latin typeface="+mn-lt"/>
              </a:rPr>
              <a:t>/</a:t>
            </a:r>
            <a:r>
              <a:rPr lang="ru-RU" altLang="ru-RU" sz="2400" dirty="0" err="1">
                <a:latin typeface="+mn-lt"/>
              </a:rPr>
              <a:t>connect</a:t>
            </a:r>
            <a:r>
              <a:rPr lang="ru-RU" altLang="ru-RU" sz="2400" dirty="0">
                <a:latin typeface="+mn-lt"/>
              </a:rPr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lang="ru-RU" altLang="ru-RU" sz="2400" dirty="0">
                <a:latin typeface="+mn-lt"/>
              </a:rPr>
              <a:t> Запрос на русском языке — модель корректно интерпретировала задачу.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ru-RU" altLang="ru-RU" sz="2400" dirty="0">
                <a:latin typeface="+mn-lt"/>
              </a:rPr>
              <a:t>      Вывод: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lang="ru-RU" altLang="ru-RU" sz="2400" dirty="0">
                <a:latin typeface="+mn-lt"/>
              </a:rPr>
              <a:t> Принципиальная возможность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ru-RU" altLang="ru-RU" sz="2400" dirty="0">
                <a:latin typeface="+mn-lt"/>
              </a:rPr>
              <a:t>подтверждена.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lang="ru-RU" altLang="ru-RU" sz="2400" dirty="0">
                <a:latin typeface="+mn-lt"/>
              </a:rPr>
              <a:t> Но требуется верификация: вручную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ru-RU" altLang="ru-RU" sz="2400" dirty="0">
                <a:latin typeface="+mn-lt"/>
              </a:rPr>
              <a:t>найдены ошибки (неподходящий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ru-RU" altLang="ru-RU" sz="2400" dirty="0">
                <a:latin typeface="+mn-lt"/>
              </a:rPr>
              <a:t>драйвер).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lang="ru-RU" altLang="ru-RU" sz="2400" dirty="0">
                <a:latin typeface="+mn-lt"/>
              </a:rPr>
              <a:t> Без </a:t>
            </a:r>
            <a:r>
              <a:rPr lang="ru-RU" altLang="ru-RU" sz="2400" dirty="0" err="1">
                <a:latin typeface="+mn-lt"/>
              </a:rPr>
              <a:t>Batfish</a:t>
            </a:r>
            <a:r>
              <a:rPr lang="ru-RU" altLang="ru-RU" sz="2400" dirty="0">
                <a:latin typeface="+mn-lt"/>
              </a:rPr>
              <a:t> — нельзя доверять 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ru-RU" altLang="ru-RU" sz="2400" dirty="0">
                <a:latin typeface="+mn-lt"/>
              </a:rPr>
              <a:t>конфигурации.</a:t>
            </a:r>
          </a:p>
        </p:txBody>
      </p:sp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8610985B-76A5-4F98-AFD8-F873A4A6A55F}"/>
              </a:ext>
            </a:extLst>
          </p:cNvPr>
          <p:cNvPicPr/>
          <p:nvPr/>
        </p:nvPicPr>
        <p:blipFill rotWithShape="1">
          <a:blip r:embed="rId6"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brightnessContrast bright="20000" contrast="-40000"/>
                    </a14:imgEffect>
                  </a14:imgLayer>
                </a14:imgProps>
              </a:ext>
            </a:extLst>
          </a:blip>
          <a:srcRect t="23082" r="34033" b="16848"/>
          <a:stretch/>
        </p:blipFill>
        <p:spPr bwMode="auto">
          <a:xfrm>
            <a:off x="6011197" y="3344261"/>
            <a:ext cx="5599777" cy="2851482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</p:spTree>
    <p:extLst>
      <p:ext uri="{BB962C8B-B14F-4D97-AF65-F5344CB8AC3E}">
        <p14:creationId xmlns:p14="http://schemas.microsoft.com/office/powerpoint/2010/main" val="45967689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1079CDFF-57B0-4196-AD85-4ADFEF542FAF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artisticGlass/>
                    </a14:imgEffect>
                    <a14:imgEffect>
                      <a14:sharpenSoften amount="-50000"/>
                    </a14:imgEffect>
                    <a14:imgEffect>
                      <a14:saturation sat="33000"/>
                    </a14:imgEffect>
                    <a14:imgEffect>
                      <a14:brightnessContrast bright="40000" contrast="40000"/>
                    </a14:imgEffect>
                  </a14:imgLayer>
                </a14:imgProps>
              </a:ext>
            </a:extLst>
          </a:blip>
          <a:srcRect b="43336"/>
          <a:stretch/>
        </p:blipFill>
        <p:spPr>
          <a:xfrm>
            <a:off x="0" y="-19050"/>
            <a:ext cx="12192000" cy="6810375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82E74FE2-23F3-441A-AEE1-5A046E6AB7E0}"/>
              </a:ext>
            </a:extLst>
          </p:cNvPr>
          <p:cNvSpPr txBox="1"/>
          <p:nvPr/>
        </p:nvSpPr>
        <p:spPr>
          <a:xfrm>
            <a:off x="1431236" y="150865"/>
            <a:ext cx="8865704" cy="646331"/>
          </a:xfrm>
          <a:prstGeom prst="rect">
            <a:avLst/>
          </a:prstGeom>
          <a:solidFill>
            <a:srgbClr val="FFFFFF">
              <a:alpha val="10196"/>
            </a:srgbClr>
          </a:solidFill>
        </p:spPr>
        <p:txBody>
          <a:bodyPr wrap="square">
            <a:spAutoFit/>
          </a:bodyPr>
          <a:lstStyle/>
          <a:p>
            <a:pPr algn="ctr"/>
            <a:r>
              <a:rPr lang="ru-RU" sz="3600" b="1" dirty="0">
                <a:effectLst/>
              </a:rPr>
              <a:t>Заключение</a:t>
            </a:r>
          </a:p>
        </p:txBody>
      </p:sp>
      <p:sp>
        <p:nvSpPr>
          <p:cNvPr id="26" name="Номер слайда 15">
            <a:extLst>
              <a:ext uri="{FF2B5EF4-FFF2-40B4-BE49-F238E27FC236}">
                <a16:creationId xmlns:a16="http://schemas.microsoft.com/office/drawing/2014/main" id="{DAA0CFDB-9FFC-4271-851D-DF5DAAFE2D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058525" y="6197302"/>
            <a:ext cx="382845" cy="369331"/>
          </a:xfrm>
        </p:spPr>
        <p:txBody>
          <a:bodyPr/>
          <a:lstStyle/>
          <a:p>
            <a:pPr algn="ctr"/>
            <a:fld id="{70D7F68C-E0BA-42A2-A7A5-96B03D97FA95}" type="slidenum">
              <a:rPr lang="ru-RU" sz="2000" smtClean="0"/>
              <a:pPr algn="ctr"/>
              <a:t>7</a:t>
            </a:fld>
            <a:endParaRPr lang="ru-RU" sz="2000" dirty="0"/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ECC8E0DB-40B9-496C-97BA-ABF7B3D68229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lum bright="70000" contrast="-70000"/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artisticCrisscrossEtching/>
                    </a14:imgEffect>
                    <a14:imgEffect>
                      <a14:colorTemperature colorTemp="1500"/>
                    </a14:imgEffect>
                    <a14:imgEffect>
                      <a14:saturation sat="24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r="50136"/>
          <a:stretch/>
        </p:blipFill>
        <p:spPr>
          <a:xfrm>
            <a:off x="9144000" y="252521"/>
            <a:ext cx="3047999" cy="6183480"/>
          </a:xfrm>
          <a:prstGeom prst="rect">
            <a:avLst/>
          </a:prstGeom>
        </p:spPr>
      </p:pic>
      <p:sp>
        <p:nvSpPr>
          <p:cNvPr id="3" name="Rectangle 1">
            <a:extLst>
              <a:ext uri="{FF2B5EF4-FFF2-40B4-BE49-F238E27FC236}">
                <a16:creationId xmlns:a16="http://schemas.microsoft.com/office/drawing/2014/main" id="{004BDC9F-85AF-4408-B2ED-AA440484F69C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7548" y="700427"/>
            <a:ext cx="11544385" cy="6006708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0" tIns="101568" rIns="0" bIns="101568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l"/>
            <a:r>
              <a:rPr lang="ru-RU" sz="2900" dirty="0">
                <a:latin typeface="+mn-lt"/>
              </a:rPr>
              <a:t>Основные выводы по работе.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2900" dirty="0">
                <a:latin typeface="+mn-lt"/>
              </a:rPr>
              <a:t> LLM могут генерировать конфигурации по запросу на естественном языке.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2900" dirty="0">
                <a:latin typeface="+mn-lt"/>
              </a:rPr>
              <a:t> Локальное выполнение решает проблему приватности (K, OP/</a:t>
            </a:r>
            <a:r>
              <a:rPr lang="ru-RU" sz="2900" dirty="0" err="1">
                <a:latin typeface="+mn-lt"/>
              </a:rPr>
              <a:t>OPc</a:t>
            </a:r>
            <a:r>
              <a:rPr lang="ru-RU" sz="2900" dirty="0">
                <a:latin typeface="+mn-lt"/>
              </a:rPr>
              <a:t> не передаются).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2900" dirty="0">
                <a:latin typeface="+mn-lt"/>
              </a:rPr>
              <a:t> Без верификатора (</a:t>
            </a:r>
            <a:r>
              <a:rPr lang="ru-RU" sz="2900" dirty="0" err="1">
                <a:latin typeface="+mn-lt"/>
              </a:rPr>
              <a:t>Batfish</a:t>
            </a:r>
            <a:r>
              <a:rPr lang="ru-RU" sz="2900" dirty="0">
                <a:latin typeface="+mn-lt"/>
              </a:rPr>
              <a:t>) LLM не гарантирует корректность.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2900" dirty="0">
                <a:latin typeface="+mn-lt"/>
              </a:rPr>
              <a:t> Время реакции (5–10+ мин) неприемлемо для реальной сети.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2900" dirty="0">
                <a:latin typeface="+mn-lt"/>
              </a:rPr>
              <a:t> MARL требует огромных ресурсов и сложного стенда.</a:t>
            </a:r>
          </a:p>
          <a:p>
            <a:pPr algn="l">
              <a:buFont typeface="Arial" panose="020B0604020202020204" pitchFamily="34" charset="0"/>
              <a:buChar char="•"/>
            </a:pPr>
            <a:endParaRPr lang="ru-RU" sz="2900" dirty="0">
              <a:latin typeface="+mn-lt"/>
            </a:endParaRPr>
          </a:p>
          <a:p>
            <a:pPr algn="l"/>
            <a:r>
              <a:rPr lang="ru-RU" sz="2900" dirty="0">
                <a:latin typeface="+mn-lt"/>
              </a:rPr>
              <a:t>Итог: LLM и MARL в текущем виде не готовы к промышленному применению.</a:t>
            </a:r>
            <a:br>
              <a:rPr lang="ru-RU" sz="2900" dirty="0">
                <a:latin typeface="+mn-lt"/>
              </a:rPr>
            </a:br>
            <a:r>
              <a:rPr lang="ru-RU" sz="2900" dirty="0">
                <a:latin typeface="+mn-lt"/>
              </a:rPr>
              <a:t>Перспектива — гибридный подход: LLM генерирует черновик, человек/верификатор проверяет.</a:t>
            </a:r>
            <a:endParaRPr lang="ru-RU" altLang="ru-RU" sz="2900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94974783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1079CDFF-57B0-4196-AD85-4ADFEF542FAF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artisticGlass/>
                    </a14:imgEffect>
                    <a14:imgEffect>
                      <a14:sharpenSoften amount="-50000"/>
                    </a14:imgEffect>
                    <a14:imgEffect>
                      <a14:saturation sat="33000"/>
                    </a14:imgEffect>
                    <a14:imgEffect>
                      <a14:brightnessContrast bright="40000" contrast="40000"/>
                    </a14:imgEffect>
                  </a14:imgLayer>
                </a14:imgProps>
              </a:ext>
            </a:extLst>
          </a:blip>
          <a:srcRect b="43336"/>
          <a:stretch/>
        </p:blipFill>
        <p:spPr>
          <a:xfrm>
            <a:off x="0" y="-19050"/>
            <a:ext cx="12192000" cy="6810375"/>
          </a:xfrm>
          <a:prstGeom prst="rect">
            <a:avLst/>
          </a:prstGeom>
        </p:spPr>
      </p:pic>
      <p:sp>
        <p:nvSpPr>
          <p:cNvPr id="26" name="Номер слайда 15">
            <a:extLst>
              <a:ext uri="{FF2B5EF4-FFF2-40B4-BE49-F238E27FC236}">
                <a16:creationId xmlns:a16="http://schemas.microsoft.com/office/drawing/2014/main" id="{DAA0CFDB-9FFC-4271-851D-DF5DAAFE2D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058525" y="6197302"/>
            <a:ext cx="382845" cy="369331"/>
          </a:xfrm>
        </p:spPr>
        <p:txBody>
          <a:bodyPr/>
          <a:lstStyle/>
          <a:p>
            <a:pPr algn="ctr"/>
            <a:fld id="{70D7F68C-E0BA-42A2-A7A5-96B03D97FA95}" type="slidenum">
              <a:rPr lang="ru-RU" sz="2000" smtClean="0"/>
              <a:pPr algn="ctr"/>
              <a:t>8</a:t>
            </a:fld>
            <a:endParaRPr lang="ru-RU" sz="2000" dirty="0"/>
          </a:p>
        </p:txBody>
      </p:sp>
      <p:sp>
        <p:nvSpPr>
          <p:cNvPr id="3" name="Rectangle 1">
            <a:extLst>
              <a:ext uri="{FF2B5EF4-FFF2-40B4-BE49-F238E27FC236}">
                <a16:creationId xmlns:a16="http://schemas.microsoft.com/office/drawing/2014/main" id="{004BDC9F-85AF-4408-B2ED-AA440484F69C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48035" y="379990"/>
            <a:ext cx="6495930" cy="882228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0" tIns="101568" rIns="0" bIns="101568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/>
            <a:r>
              <a:rPr lang="ru-RU" sz="4400" b="1" i="0" dirty="0">
                <a:effectLst/>
                <a:latin typeface="+mn-lt"/>
              </a:rPr>
              <a:t>Спасибо за внимание.</a:t>
            </a:r>
            <a:endParaRPr lang="ru-RU" altLang="ru-RU" sz="4000" dirty="0">
              <a:latin typeface="+mn-lt"/>
            </a:endParaRPr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B714CAF4-69F4-4AAA-B1D0-0F2BABE42138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lum bright="70000" contrast="-70000"/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artisticCrisscrossEtching/>
                    </a14:imgEffect>
                    <a14:imgEffect>
                      <a14:colorTemperature colorTemp="1500"/>
                    </a14:imgEffect>
                    <a14:imgEffect>
                      <a14:saturation sat="24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r="50136"/>
          <a:stretch/>
        </p:blipFill>
        <p:spPr>
          <a:xfrm>
            <a:off x="9144000" y="252521"/>
            <a:ext cx="3047999" cy="618348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47F2E483-2A83-49B0-A4F6-51990C2BC418}"/>
              </a:ext>
            </a:extLst>
          </p:cNvPr>
          <p:cNvSpPr txBox="1"/>
          <p:nvPr/>
        </p:nvSpPr>
        <p:spPr>
          <a:xfrm>
            <a:off x="2040244" y="6076630"/>
            <a:ext cx="791154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dirty="0">
                <a:ea typeface="Times New Roman" panose="02020603050405020304" pitchFamily="18" charset="0"/>
                <a:cs typeface="Times New Roman" panose="02020603050405020304" pitchFamily="18" charset="0"/>
              </a:rPr>
              <a:t>г. </a:t>
            </a:r>
            <a:r>
              <a:rPr lang="ru-RU" sz="1800" dirty="0">
                <a:effectLst/>
                <a:ea typeface="Times New Roman" panose="02020603050405020304" pitchFamily="18" charset="0"/>
                <a:cs typeface="Times New Roman" panose="02020603050405020304" pitchFamily="18" charset="0"/>
              </a:rPr>
              <a:t>Владимир 2026</a:t>
            </a:r>
            <a:endParaRPr lang="ru-RU" dirty="0"/>
          </a:p>
        </p:txBody>
      </p:sp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BA4B48F2-8001-4828-8EFA-96C8A9F35CBF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lum bright="70000" contrast="-70000"/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artisticCrisscrossEtching/>
                    </a14:imgEffect>
                    <a14:imgEffect>
                      <a14:colorTemperature colorTemp="1500"/>
                    </a14:imgEffect>
                    <a14:imgEffect>
                      <a14:saturation sat="24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r="50136"/>
          <a:stretch/>
        </p:blipFill>
        <p:spPr>
          <a:xfrm rot="10800000">
            <a:off x="0" y="-19050"/>
            <a:ext cx="2499832" cy="50714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47600405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131</TotalTime>
  <Words>646</Words>
  <Application>Microsoft Office PowerPoint</Application>
  <PresentationFormat>Широкоэкранный</PresentationFormat>
  <Paragraphs>114</Paragraphs>
  <Slides>8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8</vt:i4>
      </vt:variant>
    </vt:vector>
  </HeadingPairs>
  <TitlesOfParts>
    <vt:vector size="13" baseType="lpstr">
      <vt:lpstr>Arial</vt:lpstr>
      <vt:lpstr>Calibri</vt:lpstr>
      <vt:lpstr>Calibri Light</vt:lpstr>
      <vt:lpstr>quote-cjk-patch</vt:lpstr>
      <vt:lpstr>Тема Office</vt:lpstr>
      <vt:lpstr>«Исследование применения больших языковых моделей для автоматической конфигурации сетей 5G/6G в парадигме Zero-Touch Management»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Исследование применения больших языковых моделей для автоматической конфигурации сетей 5G/6G в парадигме Zero-Touch Management</dc:title>
  <dc:creator>1</dc:creator>
  <cp:lastModifiedBy>1</cp:lastModifiedBy>
  <cp:revision>19</cp:revision>
  <dcterms:created xsi:type="dcterms:W3CDTF">2026-07-23T11:41:41Z</dcterms:created>
  <dcterms:modified xsi:type="dcterms:W3CDTF">2026-07-23T13:56:37Z</dcterms:modified>
</cp:coreProperties>
</file>